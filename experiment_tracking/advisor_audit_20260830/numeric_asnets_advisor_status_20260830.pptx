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741e955b0c4190" /><Relationship Type="http://schemas.openxmlformats.org/officeDocument/2006/relationships/extended-properties" Target="/docProps/app.xml" Id="R6d7084b15dcd4e90" /><Relationship Type="http://schemas.openxmlformats.org/officeDocument/2006/relationships/officeDocument" Target="/ppt/presentation.xml" Id="Rb9533f6bb52d40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82d31a587041fb"/>
  </p:sldMasterIdLst>
  <p:notesMasterIdLst>
    <p:notesMasterId xmlns:r="http://schemas.openxmlformats.org/officeDocument/2006/relationships" r:id="R1dadbb79affd4e81"/>
  </p:notesMasterIdLst>
  <p:sldIdLst>
    <p:sldId xmlns:r="http://schemas.openxmlformats.org/officeDocument/2006/relationships" id="256" r:id="Rd754cc885074434c"/>
    <p:sldId xmlns:r="http://schemas.openxmlformats.org/officeDocument/2006/relationships" id="257" r:id="R6166f11c504a4dad"/>
    <p:sldId xmlns:r="http://schemas.openxmlformats.org/officeDocument/2006/relationships" id="258" r:id="Rc61ae8ddf32c49cd"/>
    <p:sldId xmlns:r="http://schemas.openxmlformats.org/officeDocument/2006/relationships" id="259" r:id="Rcb3e94f757f84dd8"/>
    <p:sldId xmlns:r="http://schemas.openxmlformats.org/officeDocument/2006/relationships" id="260" r:id="R780201b6290d40c9"/>
    <p:sldId xmlns:r="http://schemas.openxmlformats.org/officeDocument/2006/relationships" id="261" r:id="R239b76e006434693"/>
    <p:sldId xmlns:r="http://schemas.openxmlformats.org/officeDocument/2006/relationships" id="262" r:id="R20b68d7a2b1546b1"/>
    <p:sldId xmlns:r="http://schemas.openxmlformats.org/officeDocument/2006/relationships" id="263" r:id="R80eb173cf67740b4"/>
    <p:sldId xmlns:r="http://schemas.openxmlformats.org/officeDocument/2006/relationships" id="264" r:id="Rfbbbf8613c894225"/>
    <p:sldId xmlns:r="http://schemas.openxmlformats.org/officeDocument/2006/relationships" id="265" r:id="R5108dca27eda47bf"/>
    <p:sldId xmlns:r="http://schemas.openxmlformats.org/officeDocument/2006/relationships" id="266" r:id="Rff866ea6578e4c5d"/>
    <p:sldId xmlns:r="http://schemas.openxmlformats.org/officeDocument/2006/relationships" id="267" r:id="R793ac97d850544ae"/>
    <p:sldId xmlns:r="http://schemas.openxmlformats.org/officeDocument/2006/relationships" id="268" r:id="R021c4daa7aa84713"/>
    <p:sldId xmlns:r="http://schemas.openxmlformats.org/officeDocument/2006/relationships" id="269" r:id="R184682c75cac4d69"/>
    <p:sldId xmlns:r="http://schemas.openxmlformats.org/officeDocument/2006/relationships" id="270" r:id="R74c94b7c50574cb7"/>
    <p:sldId xmlns:r="http://schemas.openxmlformats.org/officeDocument/2006/relationships" id="271" r:id="R68eb876e95584c6b"/>
    <p:sldId xmlns:r="http://schemas.openxmlformats.org/officeDocument/2006/relationships" id="272" r:id="Rff5ffb0c1d31476c"/>
    <p:sldId xmlns:r="http://schemas.openxmlformats.org/officeDocument/2006/relationships" id="273" r:id="R74c682a3224c4883"/>
    <p:sldId xmlns:r="http://schemas.openxmlformats.org/officeDocument/2006/relationships" id="274" r:id="R46e8e345da994674"/>
    <p:sldId xmlns:r="http://schemas.openxmlformats.org/officeDocument/2006/relationships" id="275" r:id="Rbed6f378ebf741d3"/>
    <p:sldId xmlns:r="http://schemas.openxmlformats.org/officeDocument/2006/relationships" id="276" r:id="Re5e3717cc4394d1c"/>
    <p:sldId xmlns:r="http://schemas.openxmlformats.org/officeDocument/2006/relationships" id="277" r:id="Rfa9946553a9c4ca5"/>
    <p:sldId xmlns:r="http://schemas.openxmlformats.org/officeDocument/2006/relationships" id="278" r:id="Rfec4dd5d7b774233"/>
    <p:sldId xmlns:r="http://schemas.openxmlformats.org/officeDocument/2006/relationships" id="279" r:id="R0811038f287c4a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1ae1dc593b4a9b" /><Relationship Type="http://schemas.openxmlformats.org/officeDocument/2006/relationships/slideMaster" Target="/ppt/slideMasters/slideMaster1.xml" Id="R7682d31a587041fb" /><Relationship Type="http://schemas.openxmlformats.org/officeDocument/2006/relationships/notesMaster" Target="/ppt/notesMasters/notesMaster1.xml" Id="R1dadbb79affd4e81" /><Relationship Type="http://schemas.openxmlformats.org/officeDocument/2006/relationships/presProps" Target="/ppt/presProps.xml" Id="R72d5af0a4feb41c9" /><Relationship Type="http://schemas.openxmlformats.org/officeDocument/2006/relationships/tableStyles" Target="/ppt/tableStyles.xml" Id="Ra74b8fc6f1c74d4b" /><Relationship Type="http://schemas.openxmlformats.org/officeDocument/2006/relationships/slide" Target="/ppt/slides/slide1.xml" Id="Rd754cc885074434c" /><Relationship Type="http://schemas.openxmlformats.org/officeDocument/2006/relationships/slide" Target="/ppt/slides/slide2.xml" Id="R6166f11c504a4dad" /><Relationship Type="http://schemas.openxmlformats.org/officeDocument/2006/relationships/slide" Target="/ppt/slides/slide3.xml" Id="Rc61ae8ddf32c49cd" /><Relationship Type="http://schemas.openxmlformats.org/officeDocument/2006/relationships/slide" Target="/ppt/slides/slide4.xml" Id="Rcb3e94f757f84dd8" /><Relationship Type="http://schemas.openxmlformats.org/officeDocument/2006/relationships/slide" Target="/ppt/slides/slide5.xml" Id="R780201b6290d40c9" /><Relationship Type="http://schemas.openxmlformats.org/officeDocument/2006/relationships/slide" Target="/ppt/slides/slide6.xml" Id="R239b76e006434693" /><Relationship Type="http://schemas.openxmlformats.org/officeDocument/2006/relationships/slide" Target="/ppt/slides/slide7.xml" Id="R20b68d7a2b1546b1" /><Relationship Type="http://schemas.openxmlformats.org/officeDocument/2006/relationships/slide" Target="/ppt/slides/slide8.xml" Id="R80eb173cf67740b4" /><Relationship Type="http://schemas.openxmlformats.org/officeDocument/2006/relationships/slide" Target="/ppt/slides/slide9.xml" Id="Rfbbbf8613c894225" /><Relationship Type="http://schemas.openxmlformats.org/officeDocument/2006/relationships/slide" Target="/ppt/slides/slide10.xml" Id="R5108dca27eda47bf" /><Relationship Type="http://schemas.openxmlformats.org/officeDocument/2006/relationships/slide" Target="/ppt/slides/slide11.xml" Id="Rff866ea6578e4c5d" /><Relationship Type="http://schemas.openxmlformats.org/officeDocument/2006/relationships/slide" Target="/ppt/slides/slide12.xml" Id="R793ac97d850544ae" /><Relationship Type="http://schemas.openxmlformats.org/officeDocument/2006/relationships/slide" Target="/ppt/slides/slide13.xml" Id="R021c4daa7aa84713" /><Relationship Type="http://schemas.openxmlformats.org/officeDocument/2006/relationships/slide" Target="/ppt/slides/slide14.xml" Id="R184682c75cac4d69" /><Relationship Type="http://schemas.openxmlformats.org/officeDocument/2006/relationships/slide" Target="/ppt/slides/slide15.xml" Id="R74c94b7c50574cb7" /><Relationship Type="http://schemas.openxmlformats.org/officeDocument/2006/relationships/slide" Target="/ppt/slides/slide16.xml" Id="R68eb876e95584c6b" /><Relationship Type="http://schemas.openxmlformats.org/officeDocument/2006/relationships/slide" Target="/ppt/slides/slide17.xml" Id="Rff5ffb0c1d31476c" /><Relationship Type="http://schemas.openxmlformats.org/officeDocument/2006/relationships/slide" Target="/ppt/slides/slide18.xml" Id="R74c682a3224c4883" /><Relationship Type="http://schemas.openxmlformats.org/officeDocument/2006/relationships/slide" Target="/ppt/slides/slide19.xml" Id="R46e8e345da994674" /><Relationship Type="http://schemas.openxmlformats.org/officeDocument/2006/relationships/slide" Target="/ppt/slides/slide20.xml" Id="Rbed6f378ebf741d3" /><Relationship Type="http://schemas.openxmlformats.org/officeDocument/2006/relationships/slide" Target="/ppt/slides/slide21.xml" Id="Re5e3717cc4394d1c" /><Relationship Type="http://schemas.openxmlformats.org/officeDocument/2006/relationships/slide" Target="/ppt/slides/slide22.xml" Id="Rfa9946553a9c4ca5" /><Relationship Type="http://schemas.openxmlformats.org/officeDocument/2006/relationships/slide" Target="/ppt/slides/slide23.xml" Id="Rfec4dd5d7b774233" /><Relationship Type="http://schemas.openxmlformats.org/officeDocument/2006/relationships/slide" Target="/ppt/slides/slide24.xml" Id="R0811038f287c4a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035ee4e41843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051ad7bfc84d40" /><Relationship Type="http://schemas.openxmlformats.org/officeDocument/2006/relationships/notesMaster" Target="/ppt/notesMasters/notesMaster1.xml" Id="R6f6e02fd9bad41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9873327648432c" /><Relationship Type="http://schemas.openxmlformats.org/officeDocument/2006/relationships/notesMaster" Target="/ppt/notesMasters/notesMaster1.xml" Id="Rc073247c82b042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7c6cc778034196" /><Relationship Type="http://schemas.openxmlformats.org/officeDocument/2006/relationships/notesMaster" Target="/ppt/notesMasters/notesMaster1.xml" Id="Rceb59018cb4c4a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e7a59a3c5f476b" /><Relationship Type="http://schemas.openxmlformats.org/officeDocument/2006/relationships/notesMaster" Target="/ppt/notesMasters/notesMaster1.xml" Id="Ra4add2b785f54f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46d8450cd14cee" /><Relationship Type="http://schemas.openxmlformats.org/officeDocument/2006/relationships/notesMaster" Target="/ppt/notesMasters/notesMaster1.xml" Id="Rb55a10f8c26e40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c99fbe74454672" /><Relationship Type="http://schemas.openxmlformats.org/officeDocument/2006/relationships/notesMaster" Target="/ppt/notesMasters/notesMaster1.xml" Id="Rb6e66cee60cf4b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2ac5714d1e492e" /><Relationship Type="http://schemas.openxmlformats.org/officeDocument/2006/relationships/notesMaster" Target="/ppt/notesMasters/notesMaster1.xml" Id="R0e820efd82ab41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417280ff024b8c" /><Relationship Type="http://schemas.openxmlformats.org/officeDocument/2006/relationships/notesMaster" Target="/ppt/notesMasters/notesMaster1.xml" Id="Rb7fbc982cf7841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c567f11b9a434f" /><Relationship Type="http://schemas.openxmlformats.org/officeDocument/2006/relationships/notesMaster" Target="/ppt/notesMasters/notesMaster1.xml" Id="R34fb3eae829f46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3b3e527dae4188" /><Relationship Type="http://schemas.openxmlformats.org/officeDocument/2006/relationships/notesMaster" Target="/ppt/notesMasters/notesMaster1.xml" Id="Rf8ddbfd9cd3e48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e4ae9ed34b4b67" /><Relationship Type="http://schemas.openxmlformats.org/officeDocument/2006/relationships/notesMaster" Target="/ppt/notesMasters/notesMaster1.xml" Id="Ra55d00d2ca7040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1076b5808f40aa" /><Relationship Type="http://schemas.openxmlformats.org/officeDocument/2006/relationships/notesMaster" Target="/ppt/notesMasters/notesMaster1.xml" Id="R9744f346628748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f35fde8a474be9" /><Relationship Type="http://schemas.openxmlformats.org/officeDocument/2006/relationships/notesMaster" Target="/ppt/notesMasters/notesMaster1.xml" Id="R2b1c1d826fc741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988a5f44614ac1" /><Relationship Type="http://schemas.openxmlformats.org/officeDocument/2006/relationships/notesMaster" Target="/ppt/notesMasters/notesMaster1.xml" Id="R13f77dde05554a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64194da8fc49a7" /><Relationship Type="http://schemas.openxmlformats.org/officeDocument/2006/relationships/notesMaster" Target="/ppt/notesMasters/notesMaster1.xml" Id="R3ed18a9a11574e6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5a3ef866b944743" /><Relationship Type="http://schemas.openxmlformats.org/officeDocument/2006/relationships/notesMaster" Target="/ppt/notesMasters/notesMaster1.xml" Id="Rc37ca073dda540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048527b174d4b03" /><Relationship Type="http://schemas.openxmlformats.org/officeDocument/2006/relationships/notesMaster" Target="/ppt/notesMasters/notesMaster1.xml" Id="R73e9b2dea11d48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0ade56587294083" /><Relationship Type="http://schemas.openxmlformats.org/officeDocument/2006/relationships/notesMaster" Target="/ppt/notesMasters/notesMaster1.xml" Id="R143ee41d1c7a436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8b3d52f77cb40c3" /><Relationship Type="http://schemas.openxmlformats.org/officeDocument/2006/relationships/notesMaster" Target="/ppt/notesMasters/notesMaster1.xml" Id="R0bc70d161cc14da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aae43a53a684ee8" /><Relationship Type="http://schemas.openxmlformats.org/officeDocument/2006/relationships/notesMaster" Target="/ppt/notesMasters/notesMaster1.xml" Id="R29b212cdd1f846e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2209ad69093402b" /><Relationship Type="http://schemas.openxmlformats.org/officeDocument/2006/relationships/notesMaster" Target="/ppt/notesMasters/notesMaster1.xml" Id="R4c4ea0bbeec54c2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824a43f159641cd" /><Relationship Type="http://schemas.openxmlformats.org/officeDocument/2006/relationships/notesMaster" Target="/ppt/notesMasters/notesMaster1.xml" Id="R72aa1245199046e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3ea85d0e0da4df0" /><Relationship Type="http://schemas.openxmlformats.org/officeDocument/2006/relationships/notesMaster" Target="/ppt/notesMasters/notesMaster1.xml" Id="Rcdb475f389b040e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8cd9c84ed3c4504" /><Relationship Type="http://schemas.openxmlformats.org/officeDocument/2006/relationships/notesMaster" Target="/ppt/notesMasters/notesMaster1.xml" Id="R259b5fee95e04f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C:\Users\roeeh\Desktop\School\Meitar\Thesis\Code\numeric-asnets\.codex-worktrees\mcts-safe-context\experiment_tracking\advisor_audit_20260830\cluster_workload.csv</a:t>
            </a:r>
          </a:p>
          <a:p xmlns:a="http://schemas.openxmlformats.org/drawingml/2006/main">
            <a:r>
              <a:t>C:\Users\roeeh\Desktop\School\Meitar\Thesis\Code\numeric-asnets\.codex-worktrees\mcts-safe-context\experiment_tracking\experiments.csv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C:\Users\roeeh\Desktop\School\Meitar\Thesis\Code\numeric-asnets\.codex-worktrees\mcts-safe-context\experiment_tracking\advisor_audit_20260830\advisor_meeting_brief.md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C:\Users\roeeh\Desktop\School\Meitar\Thesis\Code\numeric-asnets\.codex-worktrees\mcts-safe-context\thesis\draft\research_questions.md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C:\Users\roeeh\Desktop\School\Meitar\Thesis\Code\numeric-asnets\.codex-worktrees\mcts-safe-context\experiment_tracking\experiments.csv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C:\Users\roeeh\Desktop\School\Meitar\Thesis\Code\numeric-asnets\.codex-worktrees\mcts-safe-context\experiment_tracking\advisor_audit_20260830\advisor_meeting_brief.md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C:\Users\roeeh\Desktop\School\Meitar\Thesis\Code\numeric-asnets\.codex-worktrees\mcts-safe-context\experiment_tracking\advisor_audit_20260830\rq_results.csv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C:\Users\roeeh\Desktop\School\Meitar\Thesis\Code\numeric-asnets\.codex-worktrees\mcts-safe-context\experiment_tracking\advisor_audit_20260830\rq_results.csv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C:\Users\roeeh\Desktop\School\Meitar\Thesis\Code\numeric-asnets\.codex-worktrees\mcts-safe-context\experiment_tracking\advisor_audit_20260830\rq_results.csv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C:\Users\roeeh\Desktop\School\Meitar\Thesis\Code\numeric-asnets\.codex-worktrees\mcts-safe-context\experiment_tracking\main_val_stage2_drone_mcts_gap.csv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C:\Users\roeeh\Desktop\School\Meitar\Thesis\Code\numeric-asnets\.codex-worktrees\mcts-safe-context\experiment_tracking\four_domain_preservation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C:\Users\roeeh\Desktop\School\Meitar\Thesis\Code\numeric-asnets\.codex-worktrees\mcts-safe-context\experiment_tracking\mprime_validation_ipc_scale_v1\corrected_learning_curves.png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C:\Users\roeeh\Desktop\School\Meitar\Thesis\Code\numeric-asnets\.codex-worktrees\mcts-safe-context\experiment_tracking\advisor_figures\pw_kmin3_30min_coverage.png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C:\Users\roeeh\Desktop\School\Meitar\Thesis\Code\numeric-asnets\.codex-worktrees\mcts-safe-context\experiment_tracking\mcts_progressive_widening_cross_domain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C:\Users\roeeh\Desktop\School\Meitar\Thesis\Code\numeric-asnets\.codex-worktrees\mcts-safe-context\experiment_tracking\mcts_safe_context\README.md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C:\Users\roeeh\Desktop\School\Meitar\Thesis\Code\numeric-asnets\.codex-worktrees\mcts-safe-context\experiment_tracking\mcts_horizon_binding\results.csv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C:\Users\roeeh\Desktop\School\Meitar\Thesis\Code\numeric-asnets\.codex-worktrees\mcts-safe-context\experiment_tracking\mcts_counters_width_sensitivity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C:\Users\roeeh\Desktop\School\Meitar\Thesis\Code\numeric-asnets\.codex-worktrees\mcts-safe-context\experiment_tracking\advisor_audit_20260830\cluster_workload.csv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C:\Users\roeeh\Desktop\School\Meitar\Thesis\Code\numeric-asnets\.codex-worktrees\mcts-safe-context\experiment_tracking\live_jobs.csv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C:\Users\roeeh\Desktop\School\Meitar\Thesis\Code\numeric-asnets\.codex-worktrees\mcts-safe-context\experiment_tracking\advisor_audit_20260830\story_holes.csv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C:\Users\roeeh\Desktop\School\Meitar\Thesis\Code\numeric-asnets\.codex-worktrees\mcts-safe-context\experiment_tracking\advisor_audit_20260830\improvement_priorities.csv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C:\Users\roeeh\Desktop\School\Meitar\Thesis\Code\numeric-asnets\.codex-worktrees\mcts-safe-context\experiment_tracking\advisor_audit_20260830\advisor_meeting_brief.md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C:\Users\roeeh\Desktop\School\Meitar\Thesis\Code\numeric-asnets\.codex-worktrees\mcts-safe-context\experiment_tracking\experiments.csv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C:\Users\roeeh\Desktop\School\Meitar\Thesis\Code\numeric-asnets\.codex-worktrees\mcts-safe-context\experiment_tracking\experiments.csv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C:\Users\roeeh\Desktop\School\Meitar\Thesis\Code\numeric-asnets\.codex-worktrees\mcts-safe-context\experiment_tracking\advisor_audit_20260830\rq_results.csv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5a5f90cca84d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d88caf179443a7" /><Relationship Type="http://schemas.openxmlformats.org/officeDocument/2006/relationships/slideLayout" Target="/ppt/slideLayouts/slideLayout1.xml" Id="R876e63a137674e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6e63a137674e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f867670bd4147" /><Relationship Type="http://schemas.openxmlformats.org/officeDocument/2006/relationships/notesSlide" Target="/ppt/notesSlides/notesSlide1.xml" Id="R40d7379ca4054b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59777de5a47bb" /><Relationship Type="http://schemas.openxmlformats.org/officeDocument/2006/relationships/notesSlide" Target="/ppt/notesSlides/notesSlide2.xml" Id="R6f6ae8f733714d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7995c148a440f" /><Relationship Type="http://schemas.openxmlformats.org/officeDocument/2006/relationships/notesSlide" Target="/ppt/notesSlides/notesSlide3.xml" Id="Rfd4279ed60d64a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0057112ba4531" /><Relationship Type="http://schemas.openxmlformats.org/officeDocument/2006/relationships/notesSlide" Target="/ppt/notesSlides/notesSlide4.xml" Id="R1f9e22f1f26f4c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923ae1e3a4cc1" /><Relationship Type="http://schemas.openxmlformats.org/officeDocument/2006/relationships/notesSlide" Target="/ppt/notesSlides/notesSlide5.xml" Id="Rd4a8c94f171a4e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76a8d633b482d" /><Relationship Type="http://schemas.openxmlformats.org/officeDocument/2006/relationships/image" Target="/ppt/media/image.png" Id="Rb8c457fcc1bd4b18" /><Relationship Type="http://schemas.openxmlformats.org/officeDocument/2006/relationships/notesSlide" Target="/ppt/notesSlides/notesSlide6.xml" Id="Rb8f98b8694814b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6abb347594ccd" /><Relationship Type="http://schemas.openxmlformats.org/officeDocument/2006/relationships/notesSlide" Target="/ppt/notesSlides/notesSlide7.xml" Id="Re8e9fb54344042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3deeddf2a47a3" /><Relationship Type="http://schemas.openxmlformats.org/officeDocument/2006/relationships/notesSlide" Target="/ppt/notesSlides/notesSlide8.xml" Id="R112ae381e84a4e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ec41c30c4430f" /><Relationship Type="http://schemas.openxmlformats.org/officeDocument/2006/relationships/notesSlide" Target="/ppt/notesSlides/notesSlide9.xml" Id="R7f4f3797b4d446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cd7640fd0414c" /><Relationship Type="http://schemas.openxmlformats.org/officeDocument/2006/relationships/notesSlide" Target="/ppt/notesSlides/notesSlide10.xml" Id="R3d5a036bf02941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065f0bd8743da" /><Relationship Type="http://schemas.openxmlformats.org/officeDocument/2006/relationships/image" Target="/ppt/media/image2.png" Id="Rba0b11bbff7c4200" /><Relationship Type="http://schemas.openxmlformats.org/officeDocument/2006/relationships/notesSlide" Target="/ppt/notesSlides/notesSlide11.xml" Id="R9531c4377cb64f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c62ad6d0d4668" /><Relationship Type="http://schemas.openxmlformats.org/officeDocument/2006/relationships/image" Target="/ppt/media/image3.png" Id="R3d6db156af16490b" /><Relationship Type="http://schemas.openxmlformats.org/officeDocument/2006/relationships/image" Target="/ppt/media/image4.png" Id="Rd71053bb2e074f62" /><Relationship Type="http://schemas.openxmlformats.org/officeDocument/2006/relationships/notesSlide" Target="/ppt/notesSlides/notesSlide12.xml" Id="R9608ab6234e644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00ffaa8ba42ee" /><Relationship Type="http://schemas.openxmlformats.org/officeDocument/2006/relationships/notesSlide" Target="/ppt/notesSlides/notesSlide13.xml" Id="Ra3f7c0410a354ca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7b54af8584538" /><Relationship Type="http://schemas.openxmlformats.org/officeDocument/2006/relationships/notesSlide" Target="/ppt/notesSlides/notesSlide14.xml" Id="R5756789a477d45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930916aef433f" /><Relationship Type="http://schemas.openxmlformats.org/officeDocument/2006/relationships/notesSlide" Target="/ppt/notesSlides/notesSlide15.xml" Id="Re61862c3632241b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951ffc7654291" /><Relationship Type="http://schemas.openxmlformats.org/officeDocument/2006/relationships/notesSlide" Target="/ppt/notesSlides/notesSlide16.xml" Id="Ra210e8efc7af489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46f98a4c64321" /><Relationship Type="http://schemas.openxmlformats.org/officeDocument/2006/relationships/notesSlide" Target="/ppt/notesSlides/notesSlide17.xml" Id="Rdbb24e94d5334e9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ff28a97d44336" /><Relationship Type="http://schemas.openxmlformats.org/officeDocument/2006/relationships/notesSlide" Target="/ppt/notesSlides/notesSlide18.xml" Id="Rbf8369a61ae14c6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d0206c78945fc" /><Relationship Type="http://schemas.openxmlformats.org/officeDocument/2006/relationships/notesSlide" Target="/ppt/notesSlides/notesSlide19.xml" Id="Rf5871dbc454f4a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d8a6528604fcf" /><Relationship Type="http://schemas.openxmlformats.org/officeDocument/2006/relationships/notesSlide" Target="/ppt/notesSlides/notesSlide20.xml" Id="Rca7b6eb88c4b439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2bc8a76f9486f" /><Relationship Type="http://schemas.openxmlformats.org/officeDocument/2006/relationships/notesSlide" Target="/ppt/notesSlides/notesSlide21.xml" Id="Reb1a90bf00dc40a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e8c42a8d74244" /><Relationship Type="http://schemas.openxmlformats.org/officeDocument/2006/relationships/notesSlide" Target="/ppt/notesSlides/notesSlide22.xml" Id="R9dba439a104a4ea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0cbc2564746c8" /><Relationship Type="http://schemas.openxmlformats.org/officeDocument/2006/relationships/notesSlide" Target="/ppt/notesSlides/notesSlide23.xml" Id="Rd377d712566e447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6dfefcf7c4870" /><Relationship Type="http://schemas.openxmlformats.org/officeDocument/2006/relationships/notesSlide" Target="/ppt/notesSlides/notesSlide24.xml" Id="Rc9904fc0ad7b4c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25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13347-B43A-4996-AC68-3EA5CBE5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952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8D43D-12E5-492B-859C-0C941974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2800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ADVISOR MEETING · STATUS +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5EE04-63D6-4AB5-B8EA-DD9AC690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Numeric ASNets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DAD6F-7EE7-47F5-892D-74184EAB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CE6E0"/>
                </a:solidFill>
              </a:defRPr>
            </a:pPr>
            <a:r>
              <a:rPr sz="3000" b="1">
                <a:solidFill>
                  <a:srgbClr val="DCE6E0"/>
                </a:solidFill>
              </a:rPr>
              <a:t>What the experiments now say —</a:t>
            </a:r>
          </a:p>
          <a:p xmlns:a="http://schemas.openxmlformats.org/drawingml/2006/main">
            <a:pPr algn="l">
              <a:defRPr sz="3000" b="1">
                <a:solidFill>
                  <a:srgbClr val="DCE6E0"/>
                </a:solidFill>
              </a:defRPr>
            </a:pPr>
            <a:r>
              <a:rPr sz="3000" b="1">
                <a:solidFill>
                  <a:srgbClr val="DCE6E0"/>
                </a:solidFill>
              </a:rPr>
              <a:t>and what still has to 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BC162-AE1C-4C31-B773-1B93A872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BC7C0"/>
                </a:solidFill>
              </a:defRPr>
            </a:pPr>
            <a:r>
              <a:rPr sz="1425" b="0">
                <a:solidFill>
                  <a:srgbClr val="BBC7C0"/>
                </a:solidFill>
              </a:rPr>
              <a:t>Nine domains · 10-seed mainstream replication · policy, MCTS, training and search-correctness extensions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99574-181D-41A9-A364-617A0908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095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FE4D5"/>
          </a:solidFill>
          <a:ln xmlns:a="http://schemas.openxmlformats.org/drawingml/2006/main" w="9525">
            <a:solidFill>
              <a:srgbClr val="CFE4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CC1AE-3E4E-4738-AFC8-0BD02A64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B4F"/>
                </a:solidFill>
              </a:defRPr>
            </a:pPr>
            <a:r>
              <a:rPr sz="2550" b="1">
                <a:solidFill>
                  <a:srgbClr val="2F6B4F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81571-E895-4C6B-9302-2E0E98F4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stable domains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DEBCC-FC84-484C-BE9D-E7034B52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2095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DEC9"/>
          </a:solidFill>
          <a:ln xmlns:a="http://schemas.openxmlformats.org/drawingml/2006/main" w="9525">
            <a:solidFill>
              <a:srgbClr val="F4DE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216300-97C1-4407-ACB7-412B29C5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95875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772D"/>
                </a:solidFill>
              </a:defRPr>
            </a:pPr>
            <a:r>
              <a:rPr sz="2550" b="1">
                <a:solidFill>
                  <a:srgbClr val="D9772D"/>
                </a:solidFill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64925-2DF1-4C54-8285-61F596A4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572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imperfect domains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1E49B-4A3E-4F6F-AC0E-C56444FD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0"/>
            <a:ext cx="2095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8F0"/>
          </a:solidFill>
          <a:ln xmlns:a="http://schemas.openxmlformats.org/drawingml/2006/main" w="9525">
            <a:solidFill>
              <a:srgbClr val="DD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2528B-9546-4A5D-A935-F50F6168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95875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26B8A"/>
                </a:solidFill>
              </a:defRPr>
            </a:pPr>
            <a:r>
              <a:rPr sz="2550" b="1">
                <a:solidFill>
                  <a:srgbClr val="426B8A"/>
                </a:solidFill>
              </a:rPr>
              <a:t>65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3845B-5661-4461-9705-124ED426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57212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jobs running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46FF7-49F2-485A-A878-13B6FB27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53000"/>
            <a:ext cx="2571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D7D2"/>
          </a:solidFill>
          <a:ln xmlns:a="http://schemas.openxmlformats.org/drawingml/2006/main" w="9525">
            <a:solidFill>
              <a:srgbClr val="F0D7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C1A2A-2326-44DC-BE94-AA1566FD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95875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3473B"/>
                </a:solidFill>
              </a:defRPr>
            </a:pPr>
            <a:r>
              <a:rPr sz="2550" b="1">
                <a:solidFill>
                  <a:srgbClr val="A3473B"/>
                </a:solidFill>
              </a:rPr>
              <a:t>5.93 TiB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4DD89-F0D7-470D-A20A-305BD954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7212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requested live RAM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294D24-0B7E-41F5-AD2C-06587E4C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EBAB3"/>
                </a:solidFill>
              </a:defRPr>
            </a:pPr>
            <a:r>
              <a:rPr sz="900" b="1">
                <a:solidFill>
                  <a:srgbClr val="AEBAB3"/>
                </a:solidFill>
              </a:rPr>
              <a:t>Roee Hersco · 30 August 2026</a:t>
            </a:r>
          </a:p>
        </p:txBody>
      </p:sp>
    </p:spTree>
    <p:extLst>
      <p:ext uri="{BB962C8B-B14F-4D97-AF65-F5344CB8AC3E}">
        <p14:creationId xmlns:p14="http://schemas.microsoft.com/office/powerpoint/2010/main" val="3582713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C28C12-C755-4CB0-907E-125B3D59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CAA8F-33F8-40E6-A683-250F90B2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The thesis story in five sentences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19990-8332-47E1-A199-633241F2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17E54-5F4C-42FB-B5A6-CF29D0D8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D3416-4406-4A7D-8754-6ABF1185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0F28A-397B-48B5-95DD-4EAD438D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2D"/>
                </a:solidFill>
              </a:defRPr>
            </a:pPr>
            <a:r>
              <a:rPr sz="1950" b="1">
                <a:solidFill>
                  <a:srgbClr val="D9772D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F3F09-95F7-48C5-8D59-CD6B0F95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001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Stage-2 training is not uniformly beneficial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9AE27-CD4E-48F3-AD8F-0A286974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145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645F"/>
                </a:solidFill>
              </a:defRPr>
            </a:pPr>
            <a:r>
              <a:rPr sz="1200" b="0">
                <a:solidFill>
                  <a:srgbClr val="64645F"/>
                </a:solidFill>
              </a:rPr>
              <a:t>Counters can improve strongly; Block Grouping and FO Counters often regress.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3FFF7-2D24-4652-831C-35E7381C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80718-FE3D-43EF-82DA-29DFD44A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2D"/>
                </a:solidFill>
              </a:defRPr>
            </a:pPr>
            <a:r>
              <a:rPr sz="1950" b="1">
                <a:solidFill>
                  <a:srgbClr val="D9772D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65719-12C5-42FC-98AA-27900407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145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MCTS helps selectively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E537B-EA8D-4478-BC43-539FE48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645F"/>
                </a:solidFill>
              </a:defRPr>
            </a:pPr>
            <a:r>
              <a:rPr sz="1200" b="0">
                <a:solidFill>
                  <a:srgbClr val="64645F"/>
                </a:solidFill>
              </a:rPr>
              <a:t>Strong Stage-1 gains in Drone/VH-on and FO Counters; not a universal policy upgrade.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584F1-0EE5-4F7A-8F92-B136547D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08850-0095-489E-9D9E-0AF0D09C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2D"/>
                </a:solidFill>
              </a:defRPr>
            </a:pPr>
            <a:r>
              <a:rPr sz="1950" b="1">
                <a:solidFill>
                  <a:srgbClr val="D9772D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7A5AA-49B7-4E11-B7D5-0DAAD309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289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Efficiency is now an explicit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FDFC8-8DE8-479A-B713-A6EB8AB1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645F"/>
                </a:solidFill>
              </a:defRPr>
            </a:pPr>
            <a:r>
              <a:rPr sz="1200" b="0">
                <a:solidFill>
                  <a:srgbClr val="64645F"/>
                </a:solidFill>
              </a:rPr>
              <a:t>PW Kmin=3 keeps most coverage while sharply reducing long-tail runtime.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9C42A8-B5AA-4B9D-9A26-2788C335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386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8E6B0-F000-46B7-8165-5428DCE6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2D"/>
                </a:solidFill>
              </a:defRPr>
            </a:pPr>
            <a:r>
              <a:rPr sz="1950" b="1">
                <a:solidFill>
                  <a:srgbClr val="D9772D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05F2D-48CE-436F-87F9-F4FB2CEA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43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Search correctness matters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2A877-F784-44CC-A5AD-EC9D40F2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645F"/>
                </a:solidFill>
              </a:defRPr>
            </a:pPr>
            <a:r>
              <a:rPr sz="1200" b="0">
                <a:solidFill>
                  <a:srgbClr val="64645F"/>
                </a:solidFill>
              </a:rPr>
              <a:t>SAFE-1 fixes 2/4 failures; action-history aliasing is common enough to warrant SAFE-CONTEXT.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E53C33-00D2-41F8-BF33-693EE4FA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EC88B-8E48-4468-B098-C28CDD86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2D"/>
                </a:solidFill>
              </a:defRPr>
            </a:pPr>
            <a:r>
              <a:rPr sz="1950" b="1">
                <a:solidFill>
                  <a:srgbClr val="D9772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4ABB19-BEBE-48F8-8809-701D4D70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577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The domain split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C9ED9F-5630-48B9-9131-2C30A998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721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645F"/>
                </a:solidFill>
              </a:defRPr>
            </a:pPr>
            <a:r>
              <a:rPr sz="1200" b="0">
                <a:solidFill>
                  <a:srgbClr val="64645F"/>
                </a:solidFill>
              </a:rPr>
              <a:t>MPrime is not stably solved: three stable domains, six imperfect domains.</a:t>
            </a:r>
          </a:p>
        </p:txBody>
      </p:sp>
    </p:spTree>
    <p:extLst>
      <p:ext uri="{BB962C8B-B14F-4D97-AF65-F5344CB8AC3E}">
        <p14:creationId xmlns:p14="http://schemas.microsoft.com/office/powerpoint/2010/main" val="1988939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688F34-93D6-4230-B3F3-D1BC2F75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RESEARCH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BB5C6-507B-471F-8D24-60A12FCB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Four RQs, three evidence layers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29A69-48B3-483F-B5D1-2AB34808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20E05-9FF4-4F07-85B5-72C57A83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D188F-8819-4FCB-ADD8-796EF40B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D868A-735D-4BCC-ADFC-B89AB49F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7EAEE-CCD9-4E02-8B87-7E7A4251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70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D741F-3F34-4296-BD76-9400DFC1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240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C7485-564E-401E-94AA-C679573E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430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1C5B0-E5E0-47FA-AB6A-6413B858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7B2F7-B6F8-4B22-97DD-384C9248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543050"/>
            <a:ext cx="3848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Registered estimand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CD81F-4E6F-41B8-ADF1-E4BE4B78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C6390-DF6E-485F-BC54-D259FE60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43050"/>
            <a:ext cx="1800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AA94F-B1CA-4F31-8026-3F3AA430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22387-1A43-41D1-BCD4-9AF8264B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70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RQ1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D1FBE-314B-4B1C-80AC-9073AE39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3BDEB-6135-4841-BADE-2FB3C7E3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098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Does continued MCTS-guided training improve policy?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4B021-CC1A-42EB-97E5-2775640D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9075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074D8-4BBE-47CA-A59A-1362D47E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09800"/>
            <a:ext cx="3848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VH-off S2 policy − S1 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3604B-C575-4E7D-BF39-7C3FDD00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E141D1-5E22-4D16-B46C-917D4C1D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09800"/>
            <a:ext cx="1800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Complete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470CB5-8F05-43E9-B4E2-8508CF65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C3E52B-17A5-4DC0-B4CD-1971705D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70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RQ2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56AFA6-DFCF-4440-9B57-7B365801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575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F31FA5-558B-4CCC-89E5-11FCBC43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765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Does inference-time MCTS improve policy?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F5B9E1-484B-4F01-AA0A-97A0FD47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5750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3279DB-86B2-49E3-92D5-D4452756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76550"/>
            <a:ext cx="3848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VH-off S2 MCTS − same policy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7DBAA9-DFB1-4360-AF34-C1E5254C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FBC79D-F5AC-4C01-870C-55CC2381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76550"/>
            <a:ext cx="1800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Primary incomplete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6E7F18-EFB6-4355-8912-D48DAE55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ED43D8-2789-4D21-9BE6-7075F80D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70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RQ3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504802-ECC9-46D0-AF19-7CCEADD1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B587D7-AD89-4CFE-B8BF-C51DD68E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433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Does the value head improve refinement?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462161-FB20-40B3-BC87-BEFDD4F7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2425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76E9C4-27A6-48F5-A4C7-9F886948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43300"/>
            <a:ext cx="3848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(on S2−S1) − (off S2−S1)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74AB34-DF5C-4D88-98E0-A653633C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2425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B8A1B4-3BD6-4169-A162-F8DED72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43300"/>
            <a:ext cx="1800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Complete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5D898F-A892-48B4-BCD5-B4EF1A8F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857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98763A-DAAE-4DF0-A862-318314D9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70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RQ4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B1C519-5915-47CA-B497-7888FD46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3F194F-A869-48FA-8F03-6B669D78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100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Does the value head improve inference-time MCTS?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A95C0C-29A2-4A4E-A0F3-EFE70D34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91000"/>
            <a:ext cx="400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B138C8-7C5B-4BD4-8A6C-DF801C46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10050"/>
            <a:ext cx="3848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VH-on S2 MCTS − same policy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049201-F1E0-4CE5-8EB2-34C188F8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0"/>
            <a:ext cx="1952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319D8F-690B-4E48-95D6-1D6A878B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10050"/>
            <a:ext cx="1800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Primary incomplete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F43BB0-D777-46BC-B482-5330C9DB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550B9F-933C-4C79-B2F9-3A1F6A38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6727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PRIMARY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B01FCA-1514-42C7-94E2-432CBA9E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196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Stage-2 comparisons answer the registered thesis questions.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18BBE4-5CB0-4B13-AAD8-F996D55F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B8A"/>
          </a:solidFill>
          <a:ln xmlns:a="http://schemas.openxmlformats.org/drawingml/2006/main" w="9525">
            <a:solidFill>
              <a:srgbClr val="426B8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DBBD0C4-4A82-45DB-8E15-DBD550E4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SECONDARY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C59E48-6A08-4872-9142-899F96EE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67325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5F"/>
                </a:solidFill>
              </a:defRPr>
            </a:pPr>
            <a:r>
              <a:rPr sz="1275" b="0">
                <a:solidFill>
                  <a:srgbClr val="64645F"/>
                </a:solidFill>
              </a:rPr>
              <a:t>Stage-1 policy→MCTS is already complete and informative, but not a substitute for RQ2/RQ4.</a:t>
            </a:r>
          </a:p>
        </p:txBody>
      </p:sp>
    </p:spTree>
    <p:extLst>
      <p:ext uri="{BB962C8B-B14F-4D97-AF65-F5344CB8AC3E}">
        <p14:creationId xmlns:p14="http://schemas.microsoft.com/office/powerpoint/2010/main" val="17606532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171CAF-7C23-40A5-83FD-B7229C32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TWO MAINSTREAM ROUTES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ABA88-ADBF-4DD5-BF52-571A4A27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Checkpoint choice is itself an experimental factor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A6A8C-D9D3-4D8C-ABB4-61C903A3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91C3B-0894-4423-B35B-D0A68956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F1791-6424-458A-9FFA-A67173C1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B3EB5-E7C0-45F8-929E-8D1EFA55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0482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DAA18-9447-406E-8687-D5F0F48F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1676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C0431-FC1E-4A7A-8675-C1F7C54A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621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MAIN-VAL · COMPLETE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355B0-CDBA-4830-B560-419AFD9C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Validation-led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4082E-4E71-4EA4-B1DA-1116DE42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4F"/>
                </a:solidFill>
              </a:defRPr>
            </a:pPr>
            <a:r>
              <a:rPr sz="1350" b="1">
                <a:solidFill>
                  <a:srgbClr val="2F6B4F"/>
                </a:solidFill>
              </a:rPr>
              <a:t>S1 validation-selected checkpoint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64916-C265-4BDF-94F5-0F2ACB06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→ Stage-2 training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41034-54BA-4E23-9D09-03EFB952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4F"/>
                </a:solidFill>
              </a:defRPr>
            </a:pPr>
            <a:r>
              <a:rPr sz="1350" b="1">
                <a:solidFill>
                  <a:srgbClr val="2F6B4F"/>
                </a:solidFill>
              </a:rPr>
              <a:t>→ S2 validation-selected checkpoint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00BEE-C423-44A6-B6B7-5530CF83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645F"/>
                </a:solidFill>
              </a:defRPr>
            </a:pPr>
            <a:r>
              <a:rPr sz="1200" b="0">
                <a:solidFill>
                  <a:srgbClr val="64645F"/>
                </a:solidFill>
              </a:rPr>
              <a:t>Ten matched seeds × five domains × two VH modes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33F54-191E-45CE-BD07-C7BE503B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910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Policy endpoints: complete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76A16-E2C5-4F3A-8D89-910B07D2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24000"/>
            <a:ext cx="50482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61E4C6-9220-4A3C-A29B-72C30E23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17621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424AF-15B3-4A20-80E0-42459120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1609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MAIN-TERM · COMPLETE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412A2-6840-4014-A437-29DFA91D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98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Terminal-led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FF3B0-8A8A-4544-8028-0C2F011E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2D"/>
                </a:solidFill>
              </a:defRPr>
            </a:pPr>
            <a:r>
              <a:rPr sz="1350" b="1">
                <a:solidFill>
                  <a:srgbClr val="D9772D"/>
                </a:solidFill>
              </a:rPr>
              <a:t>S1 final checkpoint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30539-4D8B-4558-9544-C70F76A6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242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→ Stage-2 training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02004B-3209-41E0-A9D5-67B8FED5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242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2D"/>
                </a:solidFill>
              </a:defRPr>
            </a:pPr>
            <a:r>
              <a:rPr sz="1350" b="1">
                <a:solidFill>
                  <a:srgbClr val="D9772D"/>
                </a:solidFill>
              </a:rPr>
              <a:t>→ S2 validation-selected checkpoint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C04212-437B-4037-8523-9C5EE7F9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719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645F"/>
                </a:solidFill>
              </a:defRPr>
            </a:pPr>
            <a:r>
              <a:rPr sz="1200" b="0">
                <a:solidFill>
                  <a:srgbClr val="64645F"/>
                </a:solidFill>
              </a:rPr>
              <a:t>Terminal sensitivity, not strict paper replication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F3B05-D661-44FB-9D9B-DA516013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910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Strict stopping fidelity: STOP-ORIG held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5B8F12-9E27-4A44-A7FE-683E62C0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4584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0D7D2"/>
          </a:solidFill>
          <a:ln xmlns:a="http://schemas.openxmlformats.org/drawingml/2006/main" w="9525">
            <a:solidFill>
              <a:srgbClr val="F0D7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EF53A3-8B66-4C49-B71D-2CFEBDA6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3473B"/>
                </a:solidFill>
              </a:defRPr>
            </a:pPr>
            <a:r>
              <a:rPr sz="1275" b="1">
                <a:solidFill>
                  <a:srgbClr val="A3473B"/>
                </a:solidFill>
              </a:rPr>
              <a:t>Interpretation rule: checkpoint selection can change results dramatically; never merge these routes into one aggregate.</a:t>
            </a:r>
          </a:p>
        </p:txBody>
      </p:sp>
    </p:spTree>
    <p:extLst>
      <p:ext uri="{BB962C8B-B14F-4D97-AF65-F5344CB8AC3E}">
        <p14:creationId xmlns:p14="http://schemas.microsoft.com/office/powerpoint/2010/main" val="14147006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E89CE0-3BB6-4C7F-9118-E5137895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DOMAIN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63397-A6BA-4D6C-BC78-8293D902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The domain landscape is now 3 stable + 6 imperfect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922EA-C02C-447B-B66C-41AC91F3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14681-384A-4CFD-AC47-14D1C0FF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1E173-DC37-48AD-B1C6-7F390E20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87D64-0EF0-43E8-9FEE-249C3323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STABLE / PRESERVATION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639A2-9D37-489B-870D-52CDD337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04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2D"/>
                </a:solidFill>
              </a:defRPr>
            </a:pPr>
            <a:r>
              <a:rPr sz="1050" b="1">
                <a:solidFill>
                  <a:srgbClr val="D9772D"/>
                </a:solidFill>
              </a:rPr>
              <a:t>IMPERFECT / IMPROVEMENT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7DD9B-BA1A-482E-BDED-BF4AB015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286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FE4D5"/>
          </a:solidFill>
          <a:ln xmlns:a="http://schemas.openxmlformats.org/drawingml/2006/main" w="9525">
            <a:solidFill>
              <a:srgbClr val="CFE4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FC829-CFC6-4609-BD3C-011E3CDA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288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4F"/>
                </a:solidFill>
              </a:defRPr>
            </a:pPr>
            <a:r>
              <a:rPr sz="1350" b="1">
                <a:solidFill>
                  <a:srgbClr val="2F6B4F"/>
                </a:solidFill>
              </a:rPr>
              <a:t>Delivery  · S1 selected 19.8 / 19.2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75233-7488-4520-B5AF-2EBD98BF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286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FE4D5"/>
          </a:solidFill>
          <a:ln xmlns:a="http://schemas.openxmlformats.org/drawingml/2006/main" w="9525">
            <a:solidFill>
              <a:srgbClr val="CFE4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7D576-970F-4FD7-A53F-E5499598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670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4F"/>
                </a:solidFill>
              </a:defRPr>
            </a:pPr>
            <a:r>
              <a:rPr sz="1350" b="1">
                <a:solidFill>
                  <a:srgbClr val="2F6B4F"/>
                </a:solidFill>
              </a:rPr>
              <a:t>TPP · S1 selected 20.0 / 20.0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A4D50-FDB2-42B9-851F-E70BB930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286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CFE4D5"/>
          </a:solidFill>
          <a:ln xmlns:a="http://schemas.openxmlformats.org/drawingml/2006/main" w="9525">
            <a:solidFill>
              <a:srgbClr val="CFE4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BF6EF-6896-4FA4-AF42-32AA4D33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4F"/>
                </a:solidFill>
              </a:defRPr>
            </a:pPr>
            <a:r>
              <a:rPr sz="1350" b="1">
                <a:solidFill>
                  <a:srgbClr val="2F6B4F"/>
                </a:solidFill>
              </a:rPr>
              <a:t>Zenotravel · S1 selected 20.0 / 20.0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2B615-B829-4965-8797-9BD7FEEB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24050"/>
            <a:ext cx="27241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DEC9"/>
          </a:solidFill>
          <a:ln xmlns:a="http://schemas.openxmlformats.org/drawingml/2006/main" w="9525">
            <a:solidFill>
              <a:srgbClr val="F4DE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18EC3-8738-4CB1-A279-C7636410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288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Block Grouping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B172A-1D1A-4D03-B0E1-250EA3F5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24050"/>
            <a:ext cx="27241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DEC9"/>
          </a:solidFill>
          <a:ln xmlns:a="http://schemas.openxmlformats.org/drawingml/2006/main" w="9525">
            <a:solidFill>
              <a:srgbClr val="F4DE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01804-0616-4B7A-B3D5-C3FDA014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288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Drone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0B12FC-A732-4030-BCE3-538B6486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62250"/>
            <a:ext cx="27241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DEC9"/>
          </a:solidFill>
          <a:ln xmlns:a="http://schemas.openxmlformats.org/drawingml/2006/main" w="9525">
            <a:solidFill>
              <a:srgbClr val="F4DE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E8C21-BBAC-43EB-9783-A8FC4A39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670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FO Counters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89817F-A343-4C82-9703-52C14D0C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27241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DEC9"/>
          </a:solidFill>
          <a:ln xmlns:a="http://schemas.openxmlformats.org/drawingml/2006/main" w="9525">
            <a:solidFill>
              <a:srgbClr val="F4DE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F23F5C-B926-4A6E-B7C7-E6550938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670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Rover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EEC27E-B5E5-439F-9D77-0AAA272B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00450"/>
            <a:ext cx="27241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DEC9"/>
          </a:solidFill>
          <a:ln xmlns:a="http://schemas.openxmlformats.org/drawingml/2006/main" w="9525">
            <a:solidFill>
              <a:srgbClr val="F4DEC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AD1A7-BC87-447C-B4A2-C12E33CC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052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Counters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19552E-B859-4F8E-BB88-BE3FCCBD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27241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4DEC9"/>
          </a:solidFill>
          <a:ln xmlns:a="http://schemas.openxmlformats.org/drawingml/2006/main" w="9525">
            <a:solidFill>
              <a:srgbClr val="F4DEC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511A4C-9027-4FA4-A335-C18D26A9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052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MPrime · corrected selected 15.0 / 14.6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0C87F6-FB22-4D82-8195-DE64BCE0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2298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7ECF45-B69C-4E41-803E-8D9DF649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3473B"/>
                </a:solidFill>
              </a:defRPr>
            </a:pPr>
            <a:r>
              <a:rPr sz="1425" b="1">
                <a:solidFill>
                  <a:srgbClr val="A3473B"/>
                </a:solidFill>
              </a:rPr>
              <a:t>Why MPrime moved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92EA83-A3FE-4EDA-8334-74221BE9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5F"/>
                </a:solidFill>
              </a:defRPr>
            </a:pPr>
            <a:r>
              <a:rPr sz="1275" b="0">
                <a:solidFill>
                  <a:srgbClr val="64645F"/>
                </a:solidFill>
              </a:rPr>
              <a:t>The corrected validation set removes epoch-1 bias, yet validation/test rank agreement remains weak and selected test coverage is far below the historic 19/20 claim.</a:t>
            </a:r>
          </a:p>
        </p:txBody>
      </p:sp>
    </p:spTree>
    <p:extLst>
      <p:ext uri="{BB962C8B-B14F-4D97-AF65-F5344CB8AC3E}">
        <p14:creationId xmlns:p14="http://schemas.microsoft.com/office/powerpoint/2010/main" val="4584418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7F378-40D9-412B-842D-1C259117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MAINSTREAM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A696A-9EB1-4D78-B535-1C525145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RQ1: Stage-2 policy gains are domain-dependent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76EA2-513F-4694-8109-ACDFA195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B1AB4-A8F9-4C28-8A7D-624A4859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ADB09-BA2A-4132-917E-6D83FFC7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06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457fcc1bd4b18"/>
          <a:stretch xmlns:a="http://schemas.openxmlformats.org/drawingml/2006/main"/>
        </p:blipFill>
        <p:spPr>
          <a:xfrm xmlns:a="http://schemas.openxmlformats.org/drawingml/2006/main">
            <a:off x="647700" y="2116455"/>
            <a:ext cx="6858000" cy="329184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939A9-15F0-4A84-9DA8-B849AFEC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66850"/>
            <a:ext cx="34290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DEC9"/>
          </a:solidFill>
          <a:ln xmlns:a="http://schemas.openxmlformats.org/drawingml/2006/main" w="9525">
            <a:solidFill>
              <a:srgbClr val="F4DE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86E41-D995-4EEF-BDEA-41FDAD2A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772D"/>
                </a:solidFill>
              </a:defRPr>
            </a:pPr>
            <a:r>
              <a:rPr sz="1800" b="1">
                <a:solidFill>
                  <a:srgbClr val="D9772D"/>
                </a:solidFill>
              </a:rPr>
              <a:t>No domain survives Holm correction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5AAAA-C012-4FAE-998B-82D5B197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RQ1 uses VH-off and corrects across five domains within the RQ.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F3344-89EB-418B-ACDE-CB7AC228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76600"/>
            <a:ext cx="34290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5A9E8-FE76-4F39-9993-FA8FEDB7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671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Signals worth discussing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8E949-BE64-4600-8638-B2EF54D8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A633C-9869-4A85-A8CF-85412E3E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Counters terminal-led: +16.4, raw p=.027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17A93-68AC-4831-8CF1-00D33EEA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9D933-1731-4105-8F54-5BD3967B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005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FO Counters: consistent negative point estimates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78514-0048-47C0-8233-96A3A88E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72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6028D8-381A-4DC1-8D8E-9B6B65FD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958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Drone: small positive, high uncertainty</a:t>
            </a:r>
          </a:p>
        </p:txBody>
      </p:sp>
    </p:spTree>
    <p:extLst>
      <p:ext uri="{BB962C8B-B14F-4D97-AF65-F5344CB8AC3E}">
        <p14:creationId xmlns:p14="http://schemas.microsoft.com/office/powerpoint/2010/main" val="1167291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33D54D-8790-42E5-A9BF-035F1585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VALUE HEAD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CC1AF-4DEC-4715-AAFD-FEB11AF0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RQ3: value-head effect is a difference-in-differences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8D3C7-ABD6-4103-8D13-787903C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57F39-88A2-483A-904F-F742A254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84FEB-9B9A-446C-B10C-690F0141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AC11B-02A0-4B07-8459-DBC3D9CF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28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67EFD-5A77-473E-A91B-C53A95EB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E5A74-9E81-4837-82CB-F88934C4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524000"/>
            <a:ext cx="428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D32ED-C0D2-470B-B39C-1E7D88C4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4305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MAIN-VAL: on-change minus off-change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E0D9B-58E6-46B6-8F60-E83A85EC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24000"/>
            <a:ext cx="428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495C4-C5C5-40FE-8E10-60C41142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4305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MAIN-TERM: on-change minus off-change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35B28-F734-436B-A4BF-164DCCA1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28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F2C68-E0D4-4F3B-AA9E-C8D7A03B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Block Grouping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02180-C029-495E-BFAC-4681ED33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52650"/>
            <a:ext cx="428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76E53-BBD8-4CDD-905F-568E636E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7170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−2.8 [−4.61, −.99] · pH=.088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ADA17-2F8D-4872-A613-C95ABC42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428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06D225-B387-4919-BB36-FE11858C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7170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−3.4 [−5.13, −1.67] · pH=.0195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40258-40A6-4067-BA20-A6DFB74D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28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9BF477-9F94-415C-9094-84947A0C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Drone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B79486-4B7B-4523-844E-6F42B73D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428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72F966-A3A1-4D8C-85E1-43B65B0E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035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−.9 [−2.88, 1.08]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5B5DF7-E108-4B7D-B0CC-C37B91C3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428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07AC3E-25F9-4BDD-B0F3-564BFF45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−1.1 [−3.57, 1.37]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8C49A-A725-4E2D-AE3B-CDE6E3C3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28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B2C496-28D2-4E7C-BBD1-4C273A74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FO Counters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EA6D0D-FF9F-4DF0-A700-AFB71A25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09950"/>
            <a:ext cx="428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43EF84-98E8-4BE6-A6CA-664C5F59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+.7 [−.26, 1.66]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003E70-0A6D-42AD-A2E6-21629D41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09950"/>
            <a:ext cx="428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BFEE77-F46E-4B87-B1E6-F8BE99DB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+1.3 [.08, 2.52] · pH=.188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6F59B5-6FBA-4C05-8DDD-1763C5A8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28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621842-3F11-411E-91AF-E9575770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Rover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0A70E6-CC79-400F-B318-99A91BA8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38600"/>
            <a:ext cx="428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401BCB-E042-4400-BC51-E73D1C0C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5765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+.1 [−.31, .51]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4D7D24-005C-400D-9494-8B2875D9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38600"/>
            <a:ext cx="428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6F3C27-CCB5-4994-AEF8-6CC96E2D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5765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−.1 [−.51, .31]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5E885D-99D2-472C-ABF5-ED11E75F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28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BA0B1F-98E5-4B46-81F6-917ADE4C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Counters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E67C3D-E642-4026-9AAD-A8F16B29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67250"/>
            <a:ext cx="428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BEA42F-D0C0-486C-95EE-4CA529BC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8630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−1.2 [−25.87, 23.47]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90B24D-FD9E-4F6D-94C2-23BB824E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67250"/>
            <a:ext cx="428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9ED2D1-D183-483C-893E-4C177538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−16.8 [−29.64, −3.96] · pH=.078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64BFA4-E2BE-4F26-B0E9-2072341E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394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0D7D2"/>
          </a:solidFill>
          <a:ln xmlns:a="http://schemas.openxmlformats.org/drawingml/2006/main" w="9525">
            <a:solidFill>
              <a:srgbClr val="F0D7D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757578-6737-48E2-81BE-13283C46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149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3473B"/>
                </a:solidFill>
              </a:defRPr>
            </a:pPr>
            <a:r>
              <a:rPr sz="1350" b="1">
                <a:solidFill>
                  <a:srgbClr val="A3473B"/>
                </a:solidFill>
              </a:rPr>
              <a:t>Only terminal-led Block Grouping is significant after Holm: the value head worsens refinement relative to VH-off.</a:t>
            </a:r>
          </a:p>
        </p:txBody>
      </p:sp>
    </p:spTree>
    <p:extLst>
      <p:ext uri="{BB962C8B-B14F-4D97-AF65-F5344CB8AC3E}">
        <p14:creationId xmlns:p14="http://schemas.microsoft.com/office/powerpoint/2010/main" val="11075075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40D430-927D-407F-966C-5526597A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SECONDARY RQ2/RQ4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3195C-28D6-4219-A419-C1B2974F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Stage-1 MCTS: strong gains, but only in selected cells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AF15C-D5C0-4A93-B562-B06A2FF8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57977-FE7A-4109-A1BD-910DD06A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24517-335D-4429-8889-E0D63C24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C0D4F-B7A3-48FE-95EE-87DB6663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4F"/>
                </a:solidFill>
              </a:defRPr>
            </a:pPr>
            <a:r>
              <a:rPr sz="1275" b="1">
                <a:solidFill>
                  <a:srgbClr val="2F6B4F"/>
                </a:solidFill>
              </a:rPr>
              <a:t>VH-off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890B1-7320-4C02-BCD8-59BE7E87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6B8A"/>
                </a:solidFill>
              </a:defRPr>
            </a:pPr>
            <a:r>
              <a:rPr sz="1275" b="1">
                <a:solidFill>
                  <a:srgbClr val="426B8A"/>
                </a:solidFill>
              </a:rPr>
              <a:t>VH-on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D7DC9-C8DC-4D58-930F-C884FF5F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190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560"/>
          </a:solidFill>
          <a:ln xmlns:a="http://schemas.openxmlformats.org/drawingml/2006/main" w="0">
            <a:solidFill>
              <a:srgbClr val="4A556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193BE-5C9B-402E-86DD-5E9020BE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BG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746BC-5C12-40DD-A560-8A132FE5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965" y="1885950"/>
            <a:ext cx="1371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473B"/>
          </a:solidFill>
          <a:ln xmlns:a="http://schemas.openxmlformats.org/drawingml/2006/main" w="9525">
            <a:solidFill>
              <a:srgbClr val="A347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DD783-4BB9-4BCF-A405-6A81A159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65" y="18192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-0.9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9C254-ECFA-4F16-B6FF-EBAD73DD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Drone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4401D-0AE8-4C54-85DC-FC02033B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193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137C0-3F18-4348-AA86-1C5FE864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152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+1.0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BD55F-DEDB-44EF-A3A5-EA2B3F0F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FO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47BDF-6537-4FA6-A1B6-B775F13F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52700"/>
            <a:ext cx="54864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72E20-134C-4338-BEC2-7E5ECB53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965" y="24860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+3.6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A80A5-6C91-422E-A513-438C94E4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Rover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18FEF7-C6BB-455B-B82D-EF354299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860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D824EF-675F-49F4-8C7F-71812A4D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194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+1.0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286508-C471-4572-A328-4C7FE474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Counters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6B94A-47CA-4FA1-B018-AAEAB731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85" y="3219450"/>
            <a:ext cx="161544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473B"/>
          </a:solidFill>
          <a:ln xmlns:a="http://schemas.openxmlformats.org/drawingml/2006/main" w="9525">
            <a:solidFill>
              <a:srgbClr val="A347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31D475-19AC-4FD2-85FF-312DF5D2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985" y="31527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-10.6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322943-E7DF-4B0D-BD31-3D5D704A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BG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33F008-D8F2-42AF-AEAF-ECE427B8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81450"/>
            <a:ext cx="4572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B8A"/>
          </a:solidFill>
          <a:ln xmlns:a="http://schemas.openxmlformats.org/drawingml/2006/main" w="9525">
            <a:solidFill>
              <a:srgbClr val="426B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D30D3B-4651-4F65-A89C-DB02E1FC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045" y="39147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+0.3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52C987-17D9-4765-A1F2-0F8658FC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Drone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76B4CC-59B3-4F23-AFAC-26DB88C2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14825"/>
            <a:ext cx="80772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B8A"/>
          </a:solidFill>
          <a:ln xmlns:a="http://schemas.openxmlformats.org/drawingml/2006/main" w="9525">
            <a:solidFill>
              <a:srgbClr val="426B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BC5E5C-2850-4F46-A320-72DF01D0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8045" y="42481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+5.3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64BC4A-A49D-4F3C-8D14-94C88829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FO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E23331-6AA5-4786-9CA9-E82C69DA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4820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B8A"/>
          </a:solidFill>
          <a:ln xmlns:a="http://schemas.openxmlformats.org/drawingml/2006/main" w="9525">
            <a:solidFill>
              <a:srgbClr val="426B8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D14609-441F-4863-BB90-8B3ADFA3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8152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+2.0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C9B275-B415-4A96-A8C8-58AC3BB8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Rover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552D5C-FC24-46B1-88CD-34FC685C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81575"/>
            <a:ext cx="9144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B8A"/>
          </a:solidFill>
          <a:ln xmlns:a="http://schemas.openxmlformats.org/drawingml/2006/main" w="9525">
            <a:solidFill>
              <a:srgbClr val="426B8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0A9C6A-5718-4C28-9106-C2293A97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765" y="49149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+0.6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93D2E1-FE11-4A21-B16F-1882AC3F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Counters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BD079F-D828-4A0C-AAF9-7C4AEE01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565" y="5314950"/>
            <a:ext cx="28956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473B"/>
          </a:solidFill>
          <a:ln xmlns:a="http://schemas.openxmlformats.org/drawingml/2006/main" w="9525">
            <a:solidFill>
              <a:srgbClr val="A3473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D3D973-9BDB-4FE7-96DE-9C247310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865" y="5248275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1717"/>
                </a:solidFill>
              </a:defRPr>
            </a:pPr>
            <a:r>
              <a:rPr sz="975" b="1">
                <a:solidFill>
                  <a:srgbClr val="171717"/>
                </a:solidFill>
              </a:rPr>
              <a:t>-1.9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20FC4F-24BF-4DC0-9E1D-076AABB9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62100"/>
            <a:ext cx="32385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CFE4D5"/>
          </a:solidFill>
          <a:ln xmlns:a="http://schemas.openxmlformats.org/drawingml/2006/main" w="9525">
            <a:solidFill>
              <a:srgbClr val="CFE4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C64AE1-15CC-4E3F-9A25-3D7A19D0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430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6B4F"/>
                </a:solidFill>
              </a:defRPr>
            </a:pPr>
            <a:r>
              <a:rPr sz="1425" b="1">
                <a:solidFill>
                  <a:srgbClr val="2F6B4F"/>
                </a:solidFill>
              </a:rPr>
              <a:t>Holm-significant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86D0C9-8A47-4E87-BABB-936CD5A4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43125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VH-off: FO Counters +3.6</a:t>
            </a:r>
          </a:p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VH-on: Drone +5.3; FO +2.0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0320C3-EE03-41C5-BD54-8DFA36CC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71850"/>
            <a:ext cx="3238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7C4025-D28E-4816-98B6-11FE3D69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62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772D"/>
                </a:solidFill>
              </a:defRPr>
            </a:pPr>
            <a:r>
              <a:rPr sz="1425" b="1">
                <a:solidFill>
                  <a:srgbClr val="D9772D"/>
                </a:solidFill>
              </a:rPr>
              <a:t>Important caveat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BEF7E5-DE4B-4D5D-90FD-23499893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62400"/>
            <a:ext cx="2667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5F"/>
                </a:solidFill>
              </a:defRPr>
            </a:pPr>
            <a:r>
              <a:rPr sz="1275" b="0">
                <a:solidFill>
                  <a:srgbClr val="64645F"/>
                </a:solidFill>
              </a:rPr>
              <a:t>These are validation-selected Stage-1 checkpoints. The registered primary RQ2/RQ4 estimand is Stage-2 policy versus Stage-2 MCTS.</a:t>
            </a:r>
          </a:p>
        </p:txBody>
      </p:sp>
    </p:spTree>
    <p:extLst>
      <p:ext uri="{BB962C8B-B14F-4D97-AF65-F5344CB8AC3E}">
        <p14:creationId xmlns:p14="http://schemas.microsoft.com/office/powerpoint/2010/main" val="10515644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760FD6-781C-4587-AA5A-DF65B46F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STAGE-2 MCTS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B52BA-DBB0-4938-96A3-5BE1D982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Primary RQ2/RQ4 evidence is the biggest open mainstream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4E47A-AC2D-4B28-9D78-652C8B5B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9303D-39FC-4788-A008-00F1A6DD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455F4D-BBFE-4299-94AA-384E384D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74D50-66CD-433C-B5FC-6BC63C1A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3048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FE4D5"/>
          </a:solidFill>
          <a:ln xmlns:a="http://schemas.openxmlformats.org/drawingml/2006/main" w="9525">
            <a:solidFill>
              <a:srgbClr val="CFE4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CE726-CB93-4780-A22E-DBA31C94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6687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B4F"/>
                </a:solidFill>
              </a:defRPr>
            </a:pPr>
            <a:r>
              <a:rPr sz="2550" b="1">
                <a:solidFill>
                  <a:srgbClr val="2F6B4F"/>
                </a:solidFill>
              </a:rPr>
              <a:t>20/20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246EE-7722-4CD8-9460-A97225FA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Drone Stage-2 policy endpoints available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55604-2160-4763-93A5-6BCB0CE5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524000"/>
            <a:ext cx="3048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8F0"/>
          </a:solidFill>
          <a:ln xmlns:a="http://schemas.openxmlformats.org/drawingml/2006/main" w="9525">
            <a:solidFill>
              <a:srgbClr val="DD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59C49-6486-4A3E-86D1-0A1CBFF9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6687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26B8A"/>
                </a:solidFill>
              </a:defRPr>
            </a:pPr>
            <a:r>
              <a:rPr sz="2550" b="1">
                <a:solidFill>
                  <a:srgbClr val="426B8A"/>
                </a:solidFill>
              </a:rPr>
              <a:t>4/20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28B6D-1805-4F5B-A89C-B05EDE43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4312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matching MCTS endpoints already recovered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D4BDA-655C-41C3-9AB6-097E3653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24000"/>
            <a:ext cx="3048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DEC9"/>
          </a:solidFill>
          <a:ln xmlns:a="http://schemas.openxmlformats.org/drawingml/2006/main" w="9525">
            <a:solidFill>
              <a:srgbClr val="F4DE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09E5F-00D4-4E47-9DFF-7DE72EB2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6687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772D"/>
                </a:solidFill>
              </a:defRPr>
            </a:pPr>
            <a:r>
              <a:rPr sz="2550" b="1">
                <a:solidFill>
                  <a:srgbClr val="D9772D"/>
                </a:solidFill>
              </a:rP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D1220-26C4-46D2-A8FD-230528AA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4312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gap jobs submitted and memory-pending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C329B-8A59-45A8-BC25-B5C11303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What closes this hole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E8294-9A12-44C1-85FF-CBB9005F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1B18D-91AD-468F-A0A8-0328850A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Finish the 16 submitted Drone selected-checkpoint MCTS jobs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AADBF6-5E90-4C11-9473-B94ED54F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A493ED-5018-4DA8-91AE-80F40822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Then release domain-matched Stage-2 MCTS by information value and resource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FD585-83B9-4EC2-BA2C-8C56626A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6A330-C922-4D9C-B418-C6873AC0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Keep Stage-2-final MCTS excluded unless the protocol changes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B0226A-9596-47E5-BD2B-D955DD3F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9810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0D7D2"/>
          </a:solidFill>
          <a:ln xmlns:a="http://schemas.openxmlformats.org/drawingml/2006/main" w="9525">
            <a:solidFill>
              <a:srgbClr val="F0D7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A1A1CD-53A9-4342-B4D8-3CD95D52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673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3473B"/>
                </a:solidFill>
              </a:defRPr>
            </a:pPr>
            <a:r>
              <a:rPr sz="1350" b="1">
                <a:solidFill>
                  <a:srgbClr val="A3473B"/>
                </a:solidFill>
              </a:rPr>
              <a:t>Until this closes, Stage-1 MCTS is secondary evidence—not the final RQ2/RQ4 answer.</a:t>
            </a:r>
          </a:p>
        </p:txBody>
      </p:sp>
    </p:spTree>
    <p:extLst>
      <p:ext uri="{BB962C8B-B14F-4D97-AF65-F5344CB8AC3E}">
        <p14:creationId xmlns:p14="http://schemas.microsoft.com/office/powerpoint/2010/main" val="12603536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00F33C-A921-4762-914E-6498A557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DELIVERY · TPP · ZENOTRAVEL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CDB4A-0099-4150-A0CD-FD63583A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Stable-domain preservation is live, not yet a finished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A7DE4-D450-4B2C-940E-ED38AAD0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24AFB-A935-4C92-8A0F-0D87AA77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83833-B2E5-4D02-A5CA-B3B9B794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618DC-435D-43AF-88C2-C89B8D08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3C1B8-C86E-4EA6-9A9A-94072A82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33752-1CCA-469F-A22C-FEAC521C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192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443F8-6F90-445D-BBCE-05186D92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63830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Confirmation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7F4F7-9A29-4082-8F1C-578EEAFD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6192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ED6F0-3F7C-40AD-9EC5-3DAB8527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38300"/>
            <a:ext cx="2228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72D2E-8E1F-4364-A235-CBA7BC06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192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841CA-543F-4029-B320-72721CB9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38300"/>
            <a:ext cx="2228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4673C-74EB-48AD-9D38-6F638D93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192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DDE16-2FB9-461F-BB18-56AC9C15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63830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Estimate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E5D40-A76F-4C92-B75F-8CFB2C58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9F55C-9796-4065-96F1-433ADA6A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Zenotravel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19A475-2FD5-4A33-BB9D-51924931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050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302B6A-7440-4BCF-B403-6FA44EAB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2410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F082B8-00AE-47A6-A980-1B70E490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05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A4EBD-8B20-483E-B9D3-A40E19A9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24100"/>
            <a:ext cx="2228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S1 selected 20.0/off, 20.0/on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C311E1-B489-46B3-B038-0FCE1598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050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3ED7EC-BC08-42C3-949F-D3643663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24100"/>
            <a:ext cx="2228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S2 selected 20.0/off, 19.9/on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583B66-F4CF-4385-92BD-FE1B64ED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050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059284-1F0D-44C2-8F65-1D3C2CAF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2410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No material loss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9A0B66-6091-485B-AA32-5F0FA8CC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9E995A-DE7F-49AF-BE69-B4CD2504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Delivery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6E32B9-5224-4A4A-8B0B-FB17E84A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908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29AD2F-DE88-4EBD-8277-760B6AF8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0990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13/16 held-out terminal; 3 live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003042-57E5-4181-90B2-5C223C9F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908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8BBAC0-0332-44F2-B2C5-9080BC5A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09900"/>
            <a:ext cx="2228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S1 selected 19.8/off, 19.2/on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D75157-9333-4EDE-8F51-09D28102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908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E34B2B-1AC8-4E76-8EF3-3DEB0A75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09900"/>
            <a:ext cx="2228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Stage-2 endpoints accumulating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068BE3-0A3B-4DA9-AD16-426D0603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908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D6586E-8B51-4A96-8AB4-E0F9652E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0990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~5–6 h for live training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855D7B-BDDC-4036-9558-EDEAD179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5CF3B2-2AA4-4AF6-8065-CD9C924F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TPP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41686F-FC9A-482B-B6BD-6890C4AE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766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7D8D4B-72F6-47DD-B280-FEC5043D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9570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13/16 held-out terminal; 3 live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C93AA5-8E73-43A5-87DB-618BC22F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766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38C95B-8560-4960-B58C-575F209A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95700"/>
            <a:ext cx="2228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S1 selected 20.0 / 20.0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CAA3E4-8089-4DA1-A9A5-CF32658E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766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CC2D48-DB42-4C02-9CC6-6C269ADD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95700"/>
            <a:ext cx="2228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Stage-2 endpoints accumulating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6B9EEF-24C3-46C4-8EBC-40BC8BA0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766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1ECD79-1127-4106-A835-409F7F53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9570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~7.5 h, 23 h, ≤32 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2D2E11-77F5-4907-8A1D-2981DFC9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10858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19636D3-C242-4C70-970C-143600D8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772D"/>
                </a:solidFill>
              </a:defRPr>
            </a:pPr>
            <a:r>
              <a:rPr sz="1425" b="1">
                <a:solidFill>
                  <a:srgbClr val="D9772D"/>
                </a:solidFill>
              </a:rPr>
              <a:t>Required reporting discipline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7BB59B-E9AF-4EA6-99A8-DA379A56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5F"/>
                </a:solidFill>
              </a:defRPr>
            </a:pPr>
            <a:r>
              <a:rPr sz="1275" b="0">
                <a:solidFill>
                  <a:srgbClr val="64645F"/>
                </a:solidFill>
              </a:rPr>
              <a:t>The winning coefficient uses two tuning seeds per VH. Present those separately from the eight held-out confirmation seeds; all ten are not equally held out.</a:t>
            </a:r>
          </a:p>
        </p:txBody>
      </p:sp>
    </p:spTree>
    <p:extLst>
      <p:ext uri="{BB962C8B-B14F-4D97-AF65-F5344CB8AC3E}">
        <p14:creationId xmlns:p14="http://schemas.microsoft.com/office/powerpoint/2010/main" val="8612460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F6E31-B1D1-42C7-9B0A-C8DF3B66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VALIDATION REDESIGN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D9144-B74F-4CC4-B351-17EE2A9C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MPrime correction worked—but ranking remains weak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F89CB-D326-40DA-A49B-E10D3A48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728BD-9134-4B76-B321-A7891601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77E84-21C8-4EA8-96C9-E83E1E21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11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b11bbff7c4200"/>
          <a:stretch xmlns:a="http://schemas.openxmlformats.org/drawingml/2006/main"/>
        </p:blipFill>
        <p:spPr>
          <a:xfrm xmlns:a="http://schemas.openxmlformats.org/drawingml/2006/main">
            <a:off x="666750" y="2198370"/>
            <a:ext cx="6858000" cy="310896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664BC-ECA7-4C0F-A10C-5AC8119D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24000"/>
            <a:ext cx="3333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FE4D5"/>
          </a:solidFill>
          <a:ln xmlns:a="http://schemas.openxmlformats.org/drawingml/2006/main" w="9525">
            <a:solidFill>
              <a:srgbClr val="CFE4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315B1-3E6B-4622-BAA8-37B567C9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66875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B4F"/>
                </a:solidFill>
              </a:defRPr>
            </a:pPr>
            <a:r>
              <a:rPr sz="2550" b="1">
                <a:solidFill>
                  <a:srgbClr val="2F6B4F"/>
                </a:solidFill>
              </a:rPr>
              <a:t>15.0 / 14.6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09232-782A-40F8-A089-A365DBCC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43125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selected test mean · off / 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10B9F-CC46-4EA2-BA34-32C6FCE1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81300"/>
            <a:ext cx="3333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DEC9"/>
          </a:solidFill>
          <a:ln xmlns:a="http://schemas.openxmlformats.org/drawingml/2006/main" w="9525">
            <a:solidFill>
              <a:srgbClr val="F4DE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3E905-5710-4B99-9766-4E2C5CCD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24175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772D"/>
                </a:solidFill>
              </a:defRPr>
            </a:pPr>
            <a:r>
              <a:rPr sz="2550" b="1">
                <a:solidFill>
                  <a:srgbClr val="D9772D"/>
                </a:solidFill>
              </a:rPr>
              <a:t>13.5 / 13.2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D0704-293F-4EA8-B212-7185D7FA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0425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final test mean · off / 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CF015-C080-4D8E-8E3B-F336F009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38600"/>
            <a:ext cx="33337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C4678-CB2F-493F-9373-C922FE96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291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Checkpoint-ranking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0FDCC-90D7-41C6-971F-713CFDB0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91050"/>
            <a:ext cx="2914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645F"/>
                </a:solidFill>
              </a:defRPr>
            </a:pPr>
            <a:r>
              <a:rPr sz="1275" b="0">
                <a:solidFill>
                  <a:srgbClr val="64645F"/>
                </a:solidFill>
              </a:rPr>
              <a:t>Pooled Spearman ≈ .25</a:t>
            </a:r>
          </a:p>
          <a:p xmlns:a="http://schemas.openxmlformats.org/drawingml/2006/main">
            <a:pPr algn="l">
              <a:defRPr sz="1275" b="0">
                <a:solidFill>
                  <a:srgbClr val="64645F"/>
                </a:solidFill>
              </a:defRPr>
            </a:pPr>
            <a:r>
              <a:rPr sz="1275" b="0">
                <a:solidFill>
                  <a:srgbClr val="64645F"/>
                </a:solidFill>
              </a:rPr>
              <a:t>Selected regret to retrospective best: 3.1/off, 2.5/on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88BBD-07F6-4151-AE6A-DCEDE838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810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473B"/>
                </a:solidFill>
              </a:defRPr>
            </a:pPr>
            <a:r>
              <a:rPr sz="1200" b="1">
                <a:solidFill>
                  <a:srgbClr val="A3473B"/>
                </a:solidFill>
              </a:rPr>
              <a:t>Conclusion: MPrime joins the six imperfect domains; anchor tuning is live.</a:t>
            </a:r>
          </a:p>
        </p:txBody>
      </p:sp>
    </p:spTree>
    <p:extLst>
      <p:ext uri="{BB962C8B-B14F-4D97-AF65-F5344CB8AC3E}">
        <p14:creationId xmlns:p14="http://schemas.microsoft.com/office/powerpoint/2010/main" val="11570527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F5815-922D-4FC8-B394-10247172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SEARCH EFFICIENCY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E5421-FA86-4A63-9393-7DB13872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Progressive widening exposes an efficiency–coverage frontier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97F2C-25D1-482A-AD20-C1B497FE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83C48-8AFB-4770-952B-255925FB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73C23-FBEB-4D60-8AC9-BF5854C5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12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db156af16490b"/>
          <a:stretch xmlns:a="http://schemas.openxmlformats.org/drawingml/2006/main"/>
        </p:blipFill>
        <p:spPr>
          <a:xfrm xmlns:a="http://schemas.openxmlformats.org/drawingml/2006/main">
            <a:off x="647700" y="2627690"/>
            <a:ext cx="5238750" cy="2078869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053bb2e074f62"/>
          <a:stretch xmlns:a="http://schemas.openxmlformats.org/drawingml/2006/main"/>
        </p:blipFill>
        <p:spPr>
          <a:xfrm xmlns:a="http://schemas.openxmlformats.org/drawingml/2006/main">
            <a:off x="6191250" y="2069945"/>
            <a:ext cx="5238750" cy="319436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79DE3-278D-42DD-890A-3AD4FBF9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5DFC2-9CAA-4658-A7F0-EC63F1D0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7C7A1-A889-4B96-84BF-660B36A8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054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Policy 7.0 · fixed 10.5 · PW Kmin=3 9.5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07725-C479-4563-BF4B-2DC74A14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75310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B4C50-0CDB-4577-910A-932B376B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7626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DD054-FA83-4771-8DE5-F9CFE9BD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7054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p90: 893 s → 318 s · max: 6,127 s → 594 s</a:t>
            </a:r>
          </a:p>
        </p:txBody>
      </p:sp>
    </p:spTree>
    <p:extLst>
      <p:ext uri="{BB962C8B-B14F-4D97-AF65-F5344CB8AC3E}">
        <p14:creationId xmlns:p14="http://schemas.microsoft.com/office/powerpoint/2010/main" val="3825000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788B43-BBBF-4288-A963-A7F46762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PW LIVE 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AEFB0-5EBB-4E4D-A5DF-7A4868DD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Cross-domain PW is a screen, not yet confirmation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6B96D-D15C-4029-B725-C1C51332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17C6D-68E5-4DB4-A83D-27D4548B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000E5-9881-4116-84F8-A3972360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7259D-CA6A-4103-B966-7B0B8FD5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BD2A4-2D5D-430E-AF0F-F7AB02B9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6F83C-FF0B-4863-9251-E8E69F04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57162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4AD4C-70F8-4540-BAF0-906B9971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9067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F55F5-BCA4-4499-BD7A-7F449353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71625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34D71-B943-45F1-8B31-00095197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90675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Current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AF57D-60B7-468D-A0A1-55F25B65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71625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21369-82B2-4170-8124-3682D22D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9067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Estimate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3D46B-D002-4EBB-A6D0-1F103A1B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61E37-391F-46A3-B292-63F68F6F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Block Grouping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FE406-9348-4E50-BE01-2EDB9C39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1932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0E5BF-7715-4026-B450-B8BD11F4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4 running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B49A1-2E4F-4375-900E-200608C5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19325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96F47-EF9A-485F-911F-39D5B3E1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11–13/20 classified; all successes so far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B3A15-E255-4B84-B4DC-1703F586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19325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0870E-9D48-4B01-91FF-D05682EE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3837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Likely 1–4 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FB9F98-DF5F-4076-9460-05446436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BEBD4D-F5C4-4288-9DD7-056F2A95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Counters Stage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620DD4-1997-46F5-B797-F31C3031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6702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28ABE5-7442-4AA1-A6EC-19086CE9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8607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4 running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D9954C-C2C9-426E-B4FF-92BD2E12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67025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BA2963-9377-4EC1-A6E3-E578A127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86075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12–21 successes; 21–26 classified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2A57E4-4080-432C-9DC2-54DDFB2D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67025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B6853A-A1F6-4456-AE3C-F96DCA97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8607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Hours to a day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64E437-F6E0-4B5D-8391-EA935653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12D3BA-16CB-42D8-93B1-3F458D42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Counters Stage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4AD569-35B1-4A91-8E39-C850C9B3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1472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E17C9C-8CF5-4333-9AB1-9BA3F0F6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3377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3 running + 1 pending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5F8455-CD70-4FD7-B87A-1641E545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14725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E44E3A-3E3B-45EF-8626-BAFDEF01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33775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18–52 lower-bound successes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61EB07-5111-4AE9-BD2C-AE83CE54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14725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03D259-0BF9-4A99-9467-C92B31D0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3377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Hours to a day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AA25BB-5017-497A-9549-8627BB58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F13751-3CDF-4139-9BC5-6C5DF19E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81475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FO Counters / Rover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330AAA-0A7C-456E-AA2D-6827E5D8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6242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6E6B92-4330-42A4-B2B7-80E6F496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81475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0 running / 8 pending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F213DE-5689-4038-9F2F-12C05F8C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62425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3E2458-3DC6-406C-86F9-A03C2A58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81475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Awaiting memory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B7F059-D0F3-4EB7-905F-333E5C57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62425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7DD57F-9A71-4AFA-B646-C79F3B84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81475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No honest start estimate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7C4025-0ED1-4EB0-82F4-FE3173CC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06680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DEC9"/>
          </a:solidFill>
          <a:ln xmlns:a="http://schemas.openxmlformats.org/drawingml/2006/main" w="9525">
            <a:solidFill>
              <a:srgbClr val="F4DEC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1C304C-149D-467F-97A7-8A91F22C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772D"/>
                </a:solidFill>
              </a:defRPr>
            </a:pPr>
            <a:r>
              <a:rPr sz="1425" b="1">
                <a:solidFill>
                  <a:srgbClr val="D9772D"/>
                </a:solidFill>
              </a:rPr>
              <a:t>Decision rule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372197-AF17-4D5E-A5E4-CB487C09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Use two seeds to screen. Expand only a promising domain/arm to five matched seeds; do not turn every arm into a large grid.</a:t>
            </a:r>
          </a:p>
        </p:txBody>
      </p:sp>
    </p:spTree>
    <p:extLst>
      <p:ext uri="{BB962C8B-B14F-4D97-AF65-F5344CB8AC3E}">
        <p14:creationId xmlns:p14="http://schemas.microsoft.com/office/powerpoint/2010/main" val="429189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952CD6-3CBF-499E-A054-5A0C0CC8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SEARCH CORRECTNESS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FD352-741D-435C-BC26-934A85CC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SAFE-1 fixes choices; SAFE-CONTEXT fixes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CD837-3A37-45DB-AE34-B043EE07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AB117-D120-4985-86E1-969E28BA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FE81D-15F5-4C1A-8C54-678221B0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F5060-8CBB-4A30-BF2D-568FCD9B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333750" cy="400050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2028B-8A5D-42AD-B4C9-1F7A9BEE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E7A36-251B-4CCF-8060-C2D02C17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621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SAFE-1 · COMPLETE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211C0-C5A7-494B-BED3-4F7322A5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F6B4F"/>
                </a:solidFill>
              </a:defRPr>
            </a:pPr>
            <a:r>
              <a:rPr sz="3450" b="1">
                <a:solidFill>
                  <a:srgbClr val="2F6B4F"/>
                </a:solidFill>
              </a:rPr>
              <a:t>2 /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28D78-4CF6-4C58-8CF7-8302C07C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known terminal-choice failures repaired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3C3EE-3CBE-4398-8138-7B911332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75D63-9A65-49BD-B007-E51A83E1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245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Hard-mask known non-goal terminal children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8C5AD-FC97-4E82-8406-A8C8BCDA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784AF-6436-4A9C-8C7C-0F6E6B2C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245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Restore safe duplicates before unsafe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D711E-5760-4924-8F83-5C8A4A16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C4B4D-8632-4856-A922-2ED465F8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81550"/>
            <a:ext cx="245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Two failures still wandered into failure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9AC4D4-EC79-4C86-A510-6B270DD7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24000"/>
            <a:ext cx="7048500" cy="4000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FBAF21-5466-4EC8-B0AF-C817CAF4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B8A"/>
          </a:solidFill>
          <a:ln xmlns:a="http://schemas.openxmlformats.org/drawingml/2006/main" w="9525">
            <a:solidFill>
              <a:srgbClr val="426B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9C2053-1248-49D9-BD22-0E3763F7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62125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SAFE-CONTEXT · LIVE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16B6CB-0376-47D4-A955-2FC1440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426B8A"/>
                </a:solidFill>
              </a:defRPr>
            </a:pPr>
            <a:r>
              <a:rPr sz="3300" b="1">
                <a:solidFill>
                  <a:srgbClr val="426B8A"/>
                </a:solidFill>
              </a:rPr>
              <a:t>47.1%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429381-C0F7-44C3-8BE9-02C10C77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physical revisits had a different action-history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9FDE96-25E4-4D35-AEA6-4BAC27F5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33600"/>
            <a:ext cx="3048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D7D2"/>
          </a:solidFill>
          <a:ln xmlns:a="http://schemas.openxmlformats.org/drawingml/2006/main" w="9525">
            <a:solidFill>
              <a:srgbClr val="F0D7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EFF7E4-55FA-48D4-93EA-9BA06484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76475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3473B"/>
                </a:solidFill>
              </a:defRPr>
            </a:pPr>
            <a:r>
              <a:rPr sz="2550" b="1">
                <a:solidFill>
                  <a:srgbClr val="A3473B"/>
                </a:solidFill>
              </a:rPr>
              <a:t>5.44×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78CA13-B5AF-4CA3-AC0C-AC663231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5272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maximum diagnostic node multiplier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F4D0D3-A08E-41F3-9E2C-CED47ADB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52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C20422-5C6D-4BE5-BE43-B7D24EB3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76650"/>
            <a:ext cx="600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Independent node/prior/value/visit cache per context digest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F903C4-C348-4AFD-B95B-0456891C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05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5AB21D-652A-4092-9573-C5853EDE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29100"/>
            <a:ext cx="600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Physical-state cycle detection retained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27886C-09FF-461B-8460-9817BDBB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22CC54-DC10-4F6E-ABA6-80BEDB27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81550"/>
            <a:ext cx="600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Full 20-job Drone match must report coverage + RSS + nodes</a:t>
            </a:r>
          </a:p>
        </p:txBody>
      </p:sp>
    </p:spTree>
    <p:extLst>
      <p:ext uri="{BB962C8B-B14F-4D97-AF65-F5344CB8AC3E}">
        <p14:creationId xmlns:p14="http://schemas.microsoft.com/office/powerpoint/2010/main" val="18334663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8C752B-1BF4-41AA-9034-C9BA6CC2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FINITE-HORIZON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45663-6E27-436F-BA54-EBA9AE9F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Binding horizon is nearly a non-effect in Drone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85369-BF5D-4A4B-95E4-6F5018AB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8A3AE-4A11-47BA-B976-46B985A2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8C48F-5B06-450D-B4E3-A68DF73F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A1D96-FEAD-4A83-B543-9F6BC201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FE4D5"/>
          </a:solidFill>
          <a:ln xmlns:a="http://schemas.openxmlformats.org/drawingml/2006/main" w="9525">
            <a:solidFill>
              <a:srgbClr val="CFE4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829D8-0A36-4B59-AFD6-BACD8989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0497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B4F"/>
                </a:solidFill>
              </a:defRPr>
            </a:pPr>
            <a:r>
              <a:rPr sz="2550" b="1">
                <a:solidFill>
                  <a:srgbClr val="2F6B4F"/>
                </a:solidFill>
              </a:rPr>
              <a:t>8 pairs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D09F4-240C-4302-B402-5CBF0D7D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aware/unaware terminal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3D6F3-DA3E-4D6A-9C30-04FCDB27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6210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8F0"/>
          </a:solidFill>
          <a:ln xmlns:a="http://schemas.openxmlformats.org/drawingml/2006/main" w="9525">
            <a:solidFill>
              <a:srgbClr val="DD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A6BD2-CFC9-47E0-9359-EFE069A9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0497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26B8A"/>
                </a:solidFill>
              </a:defRPr>
            </a:pPr>
            <a:r>
              <a:rPr sz="2550" b="1">
                <a:solidFill>
                  <a:srgbClr val="426B8A"/>
                </a:solidFill>
              </a:rPr>
              <a:t>7 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BB9EB-93BC-4A62-9383-1511031C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8122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exact coverage equality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A7F1A-D018-41A5-8DE8-B3A3BD52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6210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DEC9"/>
          </a:solidFill>
          <a:ln xmlns:a="http://schemas.openxmlformats.org/drawingml/2006/main" w="9525">
            <a:solidFill>
              <a:srgbClr val="F4DE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3BBE7-21FB-49D8-B862-C82440B1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0497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772D"/>
                </a:solidFill>
              </a:defRPr>
            </a:pPr>
            <a:r>
              <a:rPr sz="2550" b="1">
                <a:solidFill>
                  <a:srgbClr val="D9772D"/>
                </a:solidFill>
              </a:rPr>
              <a:t>+1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72F0D-DCAD-4693-9C3D-32F00FC7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8122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one aware improvement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06364-8B56-49CD-A73E-353C7525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6210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D7D2"/>
          </a:solidFill>
          <a:ln xmlns:a="http://schemas.openxmlformats.org/drawingml/2006/main" w="9525">
            <a:solidFill>
              <a:srgbClr val="F0D7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2745B-708B-4382-8B56-F3D7E265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0497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3473B"/>
                </a:solidFill>
              </a:defRPr>
            </a:pPr>
            <a:r>
              <a:rPr sz="2550" b="1">
                <a:solidFill>
                  <a:srgbClr val="A3473B"/>
                </a:solidFill>
              </a:rPr>
              <a:t>1 cutoff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F06E3-B845-4DE9-9C1E-2CEA6744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8122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mechanism actually triggered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03B26C-6A6B-4765-9B9C-F517A73E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Two aware arms remain live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DDE7A-8591-486B-9651-B0F27E84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645F"/>
                </a:solidFill>
              </a:defRPr>
            </a:pPr>
            <a:r>
              <a:rPr sz="1350" b="0">
                <a:solidFill>
                  <a:srgbClr val="64645F"/>
                </a:solidFill>
              </a:rPr>
              <a:t>16–17/20 instances classified; expected within roughly 6–8 hours.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E05A4-0CE2-4F1E-9328-1CA088E6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0393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122681-D467-4BF4-8089-A49BE1AE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2D"/>
                </a:solidFill>
              </a:defRPr>
            </a:pPr>
            <a:r>
              <a:rPr sz="1500" b="1">
                <a:solidFill>
                  <a:srgbClr val="D9772D"/>
                </a:solidFill>
              </a:rPr>
              <a:t>If cutoffs remain rare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BAAB9D-15F1-4022-A8F2-AF867020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Move the efficacy test to cutoff-rich Counters instances with a preregistered action limit. Do not interpret run-to-run coverage variation as a horizon effect when the cutoff never fires.</a:t>
            </a:r>
          </a:p>
        </p:txBody>
      </p:sp>
    </p:spTree>
    <p:extLst>
      <p:ext uri="{BB962C8B-B14F-4D97-AF65-F5344CB8AC3E}">
        <p14:creationId xmlns:p14="http://schemas.microsoft.com/office/powerpoint/2010/main" val="8589075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894A45B-70B3-431E-B223-7DE3026A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NARROW 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A0441-FB25-4FF1-9CFF-E63D27CA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Counters shows why width and failure mode must be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6EE95-759C-44FE-9100-0A528341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7A4FE-EFE2-4A82-9074-7059A14A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C6154-6BC3-49E3-93F9-CFCA0E59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95667-4A1F-44A4-A8C0-1B31D269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5B3C0-EA1B-41A0-94F6-F137C44A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726FB-E578-4F57-A37C-7D6C935D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5811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FC484-1D87-4C4C-A6EE-512A7CBD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00200"/>
            <a:ext cx="1276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Policy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06076-294C-449A-9216-4E2E4B1D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811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55DD6-A1B3-4689-AC9C-1D8ED8E1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0020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Normal 20/70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61AB0-BA22-4462-B5A8-41CCDB2D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811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D1697-999B-4B06-AF18-D77F6201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0020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Narrow 5/20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6821D-F874-4DED-A2B6-C52B75C6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BE785-F85F-4F24-BEEA-B6436849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00200"/>
            <a:ext cx="3371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5C0C8-30D3-45F9-8EAB-BF91FA69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23EA9-4F23-443F-9564-3617BD5A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Stage 1 · VH-off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EB524D-E7FC-4062-84D9-A3C1CB84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479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F751B-BD8F-46A6-A774-6DB6705A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66950"/>
            <a:ext cx="1276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32.5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7E4711-A5D3-4381-8897-9D1AF42F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479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6BEB0-1EAE-4A8F-BE2B-023F99EA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21.9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0B3EC7-97E3-437B-950E-C50D98A1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66D204-A5AC-477E-9838-3ABDEA08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669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≥25.7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B5294F-3721-4084-A017-FF6F5206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4790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12B3F8-4B61-4502-8F96-8B22169B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3371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7 partial lower-bound rows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6A980D-EA42-45CD-BD73-5958D239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4AAD95-D9AA-4510-B7A3-81AA2422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Stage 1 · VH-on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8A8C67-2A27-4328-B6D4-A72A1193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146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6D2114-7A80-4DC2-8DFE-E6B4DB17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33700"/>
            <a:ext cx="1276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18.6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FC2675-5535-4F03-8F3F-20C5BD32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146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68A5A8-3D21-4A67-88FB-3DA16C4C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3370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16.7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77249F-A8DE-4DE0-81B8-490737E5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146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A84A6C-D659-4A63-A446-59B01F47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3370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≥22.5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6C8A5D-EC2C-4E21-9ACD-F6571F29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1465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1934E8-BC51-4831-825B-4A6C0317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33700"/>
            <a:ext cx="3371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6 partial lower-bound rows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BCBA24-EA85-48C6-BC92-061BE189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50D89E-E251-47F9-8061-7D5E8549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Stage 2 · VH-off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A01BFB-8791-4A1F-B917-F88B4B7C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814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4B3E61-55A0-4BA9-B655-A3850DF4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00450"/>
            <a:ext cx="1276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44.83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0294C6-3FEA-4F41-B554-82E6B079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814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AC5DB7-1C15-4BD7-B0E4-5F5F3A70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004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not declared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1B90E4-D8E2-4FE8-95D6-9AFCE4F8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814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083DD6-6C82-4A96-AAA0-E90F05C2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43.67 · n=6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B0519F-762F-4575-AEDF-E337B5B6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8140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6C3043-B4F7-4200-929B-172E3523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00450"/>
            <a:ext cx="3371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11/12 misses diverged to 10k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7C4705-A02C-436D-97ED-C533C724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27601A-0F3A-4C2E-9CC5-9CDBFFE3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Stage 2 · VH-on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B62A90-B0BD-4B7F-A2D0-CAEE63F9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481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AB9A19E-78D2-4B5A-8FA4-4DC83732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67200"/>
            <a:ext cx="1276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29.4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27C4F0-4F88-420E-81B2-02580ED0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481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DE7214-C90F-4E3A-B88D-695FDEF9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6720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not declared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6EDFE6-D3CF-4103-80AA-9EE47DB8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481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FAD3125-FDFA-4EF2-95F6-E67C3AC0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6720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33.8 · n=5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F0C5046-7402-4B7C-B261-F5D899FF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48150"/>
            <a:ext cx="3524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4FC5A1-EB84-4E13-A6F7-36A699CA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67200"/>
            <a:ext cx="3371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remaining jobs live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EF34E5-F865-4FD5-AD51-5839E4E9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0763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0D7D2"/>
          </a:solidFill>
          <a:ln xmlns:a="http://schemas.openxmlformats.org/drawingml/2006/main" w="9525">
            <a:solidFill>
              <a:srgbClr val="F0D7D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9FF4517-A638-408F-BF85-446D9EE4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3473B"/>
                </a:solidFill>
              </a:defRPr>
            </a:pPr>
            <a:r>
              <a:rPr sz="1275" b="1">
                <a:solidFill>
                  <a:srgbClr val="A3473B"/>
                </a:solidFill>
              </a:rPr>
              <a:t>Interrupted jobs are conservative fixed-budget lower bounds—not invalid plans. Every printed plan in the audited partial logs was VAL-valid.</a:t>
            </a:r>
          </a:p>
        </p:txBody>
      </p:sp>
    </p:spTree>
    <p:extLst>
      <p:ext uri="{BB962C8B-B14F-4D97-AF65-F5344CB8AC3E}">
        <p14:creationId xmlns:p14="http://schemas.microsoft.com/office/powerpoint/2010/main" val="19107034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E8D8FDB-A77E-485F-A4FB-2DE3D8BB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CLUSTER WORKLOAD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9FE80-0086-4FCF-999F-E5501AC5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The queue is full on memory, not on job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86D26-BB12-4E4A-A5F1-90A0C478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01D58-F919-4E86-B55C-0B5B6976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13014-47FB-42C0-8D8E-8E6AAA92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BB15A-7485-45F8-A263-195F2BD5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FE4D5"/>
          </a:solidFill>
          <a:ln xmlns:a="http://schemas.openxmlformats.org/drawingml/2006/main" w="9525">
            <a:solidFill>
              <a:srgbClr val="CFE4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39C01-1F31-464A-B0C4-54060CEA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4782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B4F"/>
                </a:solidFill>
              </a:defRPr>
            </a:pPr>
            <a:r>
              <a:rPr sz="2550" b="1">
                <a:solidFill>
                  <a:srgbClr val="2F6B4F"/>
                </a:solidFill>
              </a:rPr>
              <a:t>65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AC127-C4C5-4670-920C-ACF677E4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running jobs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CA5AC-1C1C-448A-861B-796360A2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0495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8F0"/>
          </a:solidFill>
          <a:ln xmlns:a="http://schemas.openxmlformats.org/drawingml/2006/main" w="9525">
            <a:solidFill>
              <a:srgbClr val="DD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80F36-A5F5-4CBC-BFF3-0F18ABA7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26B8A"/>
                </a:solidFill>
              </a:defRPr>
            </a:pPr>
            <a:r>
              <a:rPr sz="2550" b="1">
                <a:solidFill>
                  <a:srgbClr val="426B8A"/>
                </a:solidFill>
              </a:rPr>
              <a:t>390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C64F0-5825-4A92-A447-38F89B7A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2407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requested CPUs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2373F-9FEC-4DB7-A706-8D1ACE52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0495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DEC9"/>
          </a:solidFill>
          <a:ln xmlns:a="http://schemas.openxmlformats.org/drawingml/2006/main" w="9525">
            <a:solidFill>
              <a:srgbClr val="F4DE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D817CD-8824-4690-99F1-87132470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4782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772D"/>
                </a:solidFill>
              </a:defRPr>
            </a:pPr>
            <a:r>
              <a:rPr sz="2550" b="1">
                <a:solidFill>
                  <a:srgbClr val="D9772D"/>
                </a:solidFill>
              </a:rPr>
              <a:t>5.93 TiB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DE1A7-156A-4DA6-99A5-D1CE4ED3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24075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running RAM 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B9C78B-C054-48F6-B203-6931DF59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2857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D7D2"/>
          </a:solidFill>
          <a:ln xmlns:a="http://schemas.openxmlformats.org/drawingml/2006/main" w="9525">
            <a:solidFill>
              <a:srgbClr val="F0D7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92026-98CB-454D-AF3D-2B5ED182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47825"/>
            <a:ext cx="251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3473B"/>
                </a:solidFill>
              </a:defRPr>
            </a:pPr>
            <a:r>
              <a:rPr sz="2550" b="1">
                <a:solidFill>
                  <a:srgbClr val="A3473B"/>
                </a:solidFill>
              </a:rPr>
              <a:t>43 + 20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7650D-2F0E-4812-82A7-08F219B9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24075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ordinary + held pending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931FD-0C5F-4252-A25E-B01D5189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861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953C6F-FA57-4A1B-AFE0-ACC6055D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0515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Experiment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F69AFD-64EB-4621-A890-830F228A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861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18C900-78B1-481E-A53F-BF29E5B6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Jobs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24BDC7-134D-41B3-8587-3DC79F29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E310DE-4D0A-4445-A3CA-F6FA57F4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05150"/>
            <a:ext cx="156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CPU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85FAF9-CE8F-48A6-90B2-08508DBA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861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1CB6C8-1BB5-440C-BADD-CAE8AA80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515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Requested RAM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45205C-40D8-4EFC-BBD8-25F02371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FF0931-94DF-485F-9D48-D31D94E7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6235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SAFE-CONTEXT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23B0B0-76D2-4821-89B0-F422B4C8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433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E1D5DF-6776-40D3-BDC8-890414FC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623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19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F50FD9-261B-4917-AE6B-43D4A5E8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433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FE1A58-9208-42F2-994D-A420C60E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62350"/>
            <a:ext cx="156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114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C9DAF9-A9E0-4C08-9545-998FDCE7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780403-FE14-4826-B7E4-5D11BF41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6235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2,280 GiB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769289-77E3-44F1-B2A2-F2A1D562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60B51F-CBE9-418B-BE6B-BC0CCEFC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1955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PW cross-domain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96EBAD-255E-4575-BF75-1A71585F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CEB38B-688B-433B-9F1B-556197B9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95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11 + 9 pending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9789FD-49D8-4EA3-8B79-1958739A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65407C-C15A-43B2-A10A-BE4EB28A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19550"/>
            <a:ext cx="156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66 + 54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8FD1E4-6CDA-42BE-BE66-80E6B4B4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88BE99-ABD1-4A3F-86AB-9354F420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1955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1,320 + 1,080 GiB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1D0592-2EA4-4DD3-B282-83E87CC7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D77450-9F39-429F-AC4A-CA0E9E0A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7675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MPrime anchor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10CF9E-41DF-41D4-8D2C-433B0E3D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577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048F7F-89A1-4E90-A7CC-EBBA4873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767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18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5C34AE-1379-4C89-B1EC-03FB9FE4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A59E52-7332-47A6-B386-8FB582FD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76750"/>
            <a:ext cx="156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108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D3230B-1E74-4CE7-9598-7DD7177B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577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F725E1-11ED-4A97-85F3-16B650C7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7675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864 GiB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03081E-CD54-4308-9970-12027824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149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C37C8C-B7F7-4C57-BFF1-F2C4E84C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3395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Counters S2 narrow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BB1BB1-0E8C-4E90-9178-A98E8829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149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6B9781-51BB-4F45-B323-CB201202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33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63F3C3-BDFB-4268-9378-9C042C92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DEFD81-6BC6-4B9F-A613-C57C6C8A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33950"/>
            <a:ext cx="156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36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D8FCA81-FD9A-4C39-92A8-6B4715B7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149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62F1C31-DBD7-4983-AAFC-0F63EF5C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3395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720 GiB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743758D-5F9A-4FA8-A4B1-8B2379F1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721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3428D42-8EB7-4676-ADCF-038B1412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9115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Delivery + TPP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36D69B-C08C-4045-A85F-1430A1BA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721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90B0D0-EC11-4658-BA94-BB7874B7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911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9DA51EF-B774-4462-BC7F-D463072D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721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55954D-1B56-475D-8066-DADAB717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91150"/>
            <a:ext cx="156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36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AB12ED7-8BF5-43AF-AC01-C8924E7A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721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3AD8E15-74F5-4B78-A3DC-A93BC6D8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39115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288 GiB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FCC715-09B8-4D1C-B61A-781F20FC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29300"/>
            <a:ext cx="295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8EA176-5A41-4C9C-9088-3D6BB106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48350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Horizon + Rover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B1DACD4-159E-44A8-8690-5158DA52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293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59558A5-88C3-47C4-A770-11171A9F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8483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5 + 18 pending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AFA4784-7807-4197-8DA7-48095573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293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BBE6C45-68D5-4204-ACCE-2B6BDB78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848350"/>
            <a:ext cx="156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30 + 108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D0522E9-BB1A-4D84-90FD-FF32EC68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293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4B8D0E2-1A3E-46CF-9D21-3A4E0008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848350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600 + 2,160 GiB</a:t>
            </a:r>
          </a:p>
        </p:txBody>
      </p:sp>
    </p:spTree>
    <p:extLst>
      <p:ext uri="{BB962C8B-B14F-4D97-AF65-F5344CB8AC3E}">
        <p14:creationId xmlns:p14="http://schemas.microsoft.com/office/powerpoint/2010/main" val="18689400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525F23E-054F-46CF-8DE6-E98352B2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LIVE ETA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22461-4797-491D-9361-14BFE7F2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What should finish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5C0F9-2234-4485-B676-0D5F2305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72AE6-A3FD-4028-9C0D-019EFE1E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06E77-DFB5-491B-9B51-6CDC2305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7FAA5-BF07-4C68-814C-C16EEB7E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ED20E-ADCC-42A8-9D45-496B6330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47800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Experiment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9B1B8-733E-44A7-BFB9-2C48EA93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1130B-8EE5-472B-8AEE-AE174A0D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44780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Queue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01014-6D6F-488B-9864-7343C182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2875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3F108-A321-4292-88A1-0671D73C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47800"/>
            <a:ext cx="2228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Estimate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2A259-ADF5-4F56-8EAB-9CE5DAED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400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7F62E-5B4D-4DF8-8E84-80BE4AE1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447800"/>
            <a:ext cx="3848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Next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B152A5-19A3-4FEB-B546-3DDC39FA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F427F-FC73-45DA-B186-15F84C64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MPrime anchor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08819-1666-49E4-B0CA-86B8344F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8AD21-BAD2-48CD-BBA5-30741889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5740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18 live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2510B-3643-4771-9EDF-638A3AF9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3835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9E940-DB61-4F47-96DA-461A8422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57400"/>
            <a:ext cx="2228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≈0.3–9 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B8031D-52EB-4A8F-985E-84D2B6A3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400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44DD2C-C745-4018-AD73-76B2F04E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57400"/>
            <a:ext cx="3848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Freeze coefficient; refresh policy curves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B25E09-B5BA-4E0E-9E67-9D202B56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C14B8A-F7C2-46A0-A3CF-7ADB73F7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Delivery Stage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6523D5-A552-443C-A7B2-2893510F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479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D7056B-C2BC-46E8-8DF2-A4AFC1D9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6700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3 live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48EAA3-F458-481B-94F6-F7FF80B9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4795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7503B7-CDF2-4930-8948-4C73D87F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67000"/>
            <a:ext cx="2228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≈5–6 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4A5B8F-0B4E-4ECE-8924-84B75C3A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47950"/>
            <a:ext cx="400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C42D46-A08C-495B-B894-88389566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67000"/>
            <a:ext cx="3848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Evaluate every-five + selected/final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928DE7-460E-48F3-8D51-BD5F9F9A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42C35A-C9B8-48EE-9527-8061C2F2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Binding Horizon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903F71-7531-4982-90D1-05F6D62C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3AAABE-AC67-4665-9574-6769B89B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7660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2 live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CDE494-54D9-4730-8BF6-F84C5E70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85A3AD-418D-4EB1-9622-69D9E239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76600"/>
            <a:ext cx="2228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≈6–8 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C522D9-9459-4E00-AC9E-BA7682CD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57550"/>
            <a:ext cx="400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B8A926-5B49-4607-B99E-314E4FE5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76600"/>
            <a:ext cx="3848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Finalize matched aware/unaware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AE7C79-BF8B-46FC-A63C-009A4734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A54977-B8AA-49F9-BCE2-1FA54B6A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TPP Stage 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B46EE9-D217-41C9-AD51-780463E9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66230F-90A4-4D7C-905C-B8F6C824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8620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3 live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DAAF06-9AC6-4106-9EED-5C570A9D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6715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E4A1D5-3303-4E59-9314-8052A131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86200"/>
            <a:ext cx="2228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≈7.5 h / 23 h / ≤32 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506918-BCBA-47FB-A262-0595C3FD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67150"/>
            <a:ext cx="400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928560-1648-4F10-9153-055030A1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86200"/>
            <a:ext cx="3848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One likely scheduler-limited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277DF8-FE2B-4DC6-8D2C-A2A64A12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A283A8-D6B9-4DA4-A944-7236B74F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Counters S2 narrow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0BC036-1DA4-4952-AFDC-31718D82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301163-6725-413D-ACD3-EAA1BABA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9580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6 live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3E9AFD-6507-4C2E-8ACB-A3897451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7675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4B7CA4-8259-4019-8A50-688E42CE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95800"/>
            <a:ext cx="2228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≤19.4 h hard bound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3F8B24-4473-4977-9AB7-2E6C3A90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400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2DF860-C67F-4A7A-B536-8E7A7E83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848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Conservative lower bounds if interrupted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946642-52D6-456F-BA72-97A571E8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581D2B-56FF-488D-99B0-4141E001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SAFE-CONTEXT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29F30F-85C3-40D0-9899-09C51AB1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CC7BB43-1584-46A5-AD6C-82F64067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0540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19 live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A74BDFD-4C2C-4664-B33B-D31770FF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8635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CD919A1-47DC-42C9-A8E1-E6E92A73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05400"/>
            <a:ext cx="2228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many 2–12 h; heavy 12–30 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E91D560-482E-4916-96B8-45086A2D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86350"/>
            <a:ext cx="400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4DA66A1-D7A7-45CB-8407-A5A6E7D3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05400"/>
            <a:ext cx="3848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Coverage/runtime/nodes/peak RSS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9020052-0FB8-4C1A-85BC-6BFD2496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9498621-5CFC-4FC9-B118-56717DB5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Rover MCTS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229A6C6-8912-4C95-8C67-A222FA2C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959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E990363-30D2-4AE3-B21D-E7F02F67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715000"/>
            <a:ext cx="1847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3 live + 18 pending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BC6CB9E-5B28-4523-AE40-5E7E9033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9595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E0F774-71C9-4840-A14F-1FF5892D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15000"/>
            <a:ext cx="2228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historically ~30 h; 72 h cap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3A279AA-B46D-47A8-A4E7-50B10E76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95950"/>
            <a:ext cx="400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421C6B1-BFB2-4168-BD08-3C95DB4C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715000"/>
            <a:ext cx="3848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High OOM risk</a:t>
            </a:r>
          </a:p>
        </p:txBody>
      </p:sp>
    </p:spTree>
    <p:extLst>
      <p:ext uri="{BB962C8B-B14F-4D97-AF65-F5344CB8AC3E}">
        <p14:creationId xmlns:p14="http://schemas.microsoft.com/office/powerpoint/2010/main" val="11869160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8907CDA-65A9-426E-A5AD-627BB280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THREATS TO INFERENCE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13CDC-2A17-40CF-A875-41E36B9B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The biggest story holes are actionable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D7AA4-E0BE-40BB-9497-F05E77D9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03749-3547-4CBD-BB63-D2C9AF16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05B84-06D8-4E38-BE89-D638D38A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7EA32-4E91-436D-A389-F5427D94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03938-EEDA-4419-ADD8-50F0ECAB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Hole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AC43C-CE36-4C78-A89C-B92AC1C7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46685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A144A-5E0B-4FE7-B989-8FC2CD73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485900"/>
            <a:ext cx="461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Defensible 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CED32-741C-440E-9F99-83B07660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4668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4C4A3-59CD-4B01-8278-64057FAA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8590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2151DA-653C-4B85-9C23-D50CFEF8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4668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022E3-C096-4A15-8093-A440F5AE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485900"/>
            <a:ext cx="990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Priority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634C0-6F86-4F90-838C-F63163C2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EA982-0EA4-4655-B3B8-E8F78177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Primary RQ2/RQ4 incomplete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7F7A7-A4FF-4725-BEE6-E2B54A9D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3835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297C0-1805-4C31-9395-A1A03D6A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57400"/>
            <a:ext cx="461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Finish selected-checkpoint Stage-2 MCTS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F1DEB-FD44-4E08-8464-8D020730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E9A96-7238-48EC-9313-B5D82725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5740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Compute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70CE0-4C3E-46A7-9355-A8287874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0383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502ADB-5537-4D5F-986A-0BE6F345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057400"/>
            <a:ext cx="990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High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69F3C9-20AC-47A2-906E-8B94A5FE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B6F16B-936D-4F22-9E08-FED9E942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MAIN-TERM ≠ strict paper stopping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D7975E-DD76-4317-98C9-6ED63CDE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0985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8711D1-1B74-47DB-A299-7A0C944F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28900"/>
            <a:ext cx="461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Pilot STOP-ORIG on 3 seeds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AE0260-760F-4B8D-BBE2-3C54AE41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98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C798DA-9DE3-41B4-8638-621C7734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2890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Training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9401CB-B461-4264-812A-037A362A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6098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B69C10-0599-422B-ACFA-7D65FE21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28900"/>
            <a:ext cx="990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High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B74CA2-BC57-416F-8F76-81E094EA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95CB8B-FD72-4672-8B6C-EB4DB0E3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OOM/time censoring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2CA6CA-D3D6-4A3E-A67D-C0678DE5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8135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23E618-A0C7-4E7F-8BA4-4A96D52C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00400"/>
            <a:ext cx="461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2 workers / 160 GiB lifecycle-safe resumption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35028F-0D7D-4DD1-8538-5E0295BC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813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4B09DD-CFB4-41F6-B0FE-0D03D31E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0040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Compute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D326DD-B9BA-4413-9C1B-1C0D9943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813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896F28-87CF-4422-AF76-C86CF9F4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200400"/>
            <a:ext cx="990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High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4AFB9F-AD56-4211-9B9B-7B0337A7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88676E-303E-4300-B20E-629A278A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MPrime weak ranking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AF40A8-4B71-4D9A-A2AC-C29F3B31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5285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834C58-A7EA-4485-87F1-B28B9110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71900"/>
            <a:ext cx="461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Report regret; consider frozen larger validation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4BDF0A-26A2-407B-973A-AE379263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528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EE7C12-B9D3-48F7-8C29-BBDEA8D2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7190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Analysis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6751BC-A440-464B-A1DD-64F4EC50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7528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4AC3DD-5DD3-49E8-BC30-606639EC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771900"/>
            <a:ext cx="990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High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DD2C19-49CD-451D-B2B0-23590AFA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916605-5F52-4ABA-A3D6-C23DECF0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PW cross-domain n=2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80BD7A-1616-47DA-B5D7-B840EC11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2435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1E3AD7-2A53-4459-A553-A82C829C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43400"/>
            <a:ext cx="461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Expand only promising arms to n=5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2160A3-CF60-4007-A33F-66F14698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243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2E74FFF-1F96-4D0E-AD25-8502B5AF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4340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Conditional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319BBF-BA47-4E02-A61F-F142CB28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3243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E55516-A81B-467B-B1D4-0A3786C3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343400"/>
            <a:ext cx="990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Medium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8E099B-A338-4634-9BED-9E0AF908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1CABB1D-15D7-4555-B8EB-BDDFA763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SAFE-CONTEXT memory risk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A69961-111E-4735-92A8-FB4984DE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95850"/>
            <a:ext cx="476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E9CB64-5423-462A-B691-8B2A8E5D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14900"/>
            <a:ext cx="461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Make peak RSS and node multiplier co-primary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4883972-0703-4AA1-8417-4DC4BC1D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95850"/>
            <a:ext cx="1619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4C39737-89CD-43DE-8D66-30A81256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1490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Instrumentation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E1B2C2E-CB04-4A9E-999A-231FC7BC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895850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A993BD1-4B77-4C5E-B52B-4F041FB8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914900"/>
            <a:ext cx="990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High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C9A0EE6-EEF8-4E23-9A32-82E837CB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645F"/>
                </a:solidFill>
              </a:defRPr>
            </a:pPr>
            <a:r>
              <a:rPr sz="1050" b="1">
                <a:solidFill>
                  <a:srgbClr val="64645F"/>
                </a:solidFill>
              </a:rPr>
              <a:t>Full 18-item register: story_holes.csv</a:t>
            </a:r>
          </a:p>
        </p:txBody>
      </p:sp>
    </p:spTree>
    <p:extLst>
      <p:ext uri="{BB962C8B-B14F-4D97-AF65-F5344CB8AC3E}">
        <p14:creationId xmlns:p14="http://schemas.microsoft.com/office/powerpoint/2010/main" val="190000913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2FB8396-63A1-4930-8D38-B9611BE0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EXPERIMENT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AC7EC-B4DD-4259-B362-F6CA3B5A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Improvements are prioritized against overlap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896C0-A8C9-40EC-9EA8-D9F26A17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04D17-091B-4B18-9F7A-93B90457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6D834-1C6D-46A2-ACB9-27E04F02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734CB-4760-419A-A101-3ED16A6C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39D15-3B1B-44F0-9251-E20FB03A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365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Improvement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DC151-7632-489E-BC98-49E298D5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287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D337C-6940-41DC-9C76-A0253E1F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478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Priority / relevance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E102D-8C5C-47E3-B2FD-D7020505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287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3B7D1-96AE-4D36-BAB8-47228283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478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Predicted benefit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90877-8237-4CD2-950F-B4FD69A0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287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F23FDC-F2EB-4193-ADD5-C8AF9598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478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Overlap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BFDA88-06C3-47DA-959E-AF295E7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7AEB0-4BEC-4A8C-8EE1-E662A3D5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365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Finish Stage-2 MCTS gaps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A72B9-FFDD-4C75-8DA6-F2DC1DF3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621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AEC36-03B0-4940-B7A5-4828F291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812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5 /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42081-E888-4A26-8BF8-C80A4132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8074D2-F1BF-4AE5-A163-B942DDF1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812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High RQ closure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E22CCE-A0FC-41A1-9F82-F9F1218E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621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0C1588-AA1D-41D4-90B2-9F098525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812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No duplicate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A9F709-174F-4613-A23F-DD01E917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6255B7-66DA-4E8B-85A0-BC2141FE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365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STOP-ORIG 3-seed pilot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811A47-6E19-4651-B0AF-BE3B33DD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955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1FC1C8-94C5-42B0-A0B7-0570B91C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146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5 / 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FAF73F-1C36-4A8B-A9A2-6258ED37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955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60EA4F-74F2-4364-9BD1-BD291079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146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High fidelity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DF1F5C-96C9-4BC8-9538-5C8DEE60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55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BB67C7-60BB-4DD8-B04E-C13FA2A7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146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Covers MAIN-TERM caveat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499C97-9672-4E85-8C5C-E4BB0C67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0E3E6B-585A-4812-8441-72F39495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65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Lifecycle-safe resource resumption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4C9B45-6586-4BB9-9639-261CEA7E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33B329-9058-4AF6-B8D7-4B891FC4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480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5 / 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E8612A-000E-47C5-BE3F-91B0D9A3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FEA63A-CC54-4CC1-B8B1-BB6F1C30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480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High reliability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E23AF1-2D77-4173-8ACC-1EF2E7FA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00E427-2F1A-4D26-8467-96A27F92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480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Covers Rover/FO legacy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426725-326E-479B-8D2A-6C90BA1F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7BA2C7-942F-4846-9294-B4663D12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365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SAFE-CONTEXT joint coverage/RSS analysis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C66D32-638A-4511-9D55-B61D22C4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623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EA7193-CD7F-41BB-AE29-C5F36E41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814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5 / 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FA86C5-F76A-478E-BEBB-70284014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2BED9C-18B5-4E84-B0EC-56271EBE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814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High correctness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056AEF-3101-4909-9119-A86CDB1A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623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AE9B26-8467-409C-896A-70154969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814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Extends SAFE-1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457A3A-4CDB-4775-A946-E18F2424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0F011D-C732-4073-B85F-47C59B9A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365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Automated anchor→policy→confirmation chain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6783AE-AA08-45D1-BF7A-624DCA2E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957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0ED95E-ABF9-4898-B2E8-CABE1F6A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148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5 / 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B39E6F-C0A8-4AB0-8815-A6FABCAF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957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BE9D81-0846-45AB-B710-C336B0EB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148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High operational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729D93-9506-4956-867C-8C6E91F0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957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840238-7143-44C4-A1D1-CA4F85A4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148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Supports PRESERVE-4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CB59D9C-9CA9-41AC-A39E-A1A517B6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41EEB3-8B2D-47DF-99D0-90DF806B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365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PW screen→selective n=5 expansion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AD92930-4085-4886-A6F6-23315115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291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CF6FF7-E77A-4286-93FE-D348A7BF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482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4 / 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471229A-FEC3-4B49-8F96-8FA05779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256765-F6E7-442D-A882-F9C309C5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482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Medium-high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20D2A90-137B-4E8B-BE82-19D82356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291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00F60F-1EB5-49B1-B33C-B9A4657C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482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Avoids duplicate grid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C2A1F4-BD58-4A5E-89D4-D7336E68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553B659-6B4F-45D7-B0C6-3FE93AA6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365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SAFE-2 state×h profiling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F3BF76B-B60A-498A-BE1F-E21A518D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625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0B07660-188D-4C93-94E7-C19DF034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816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2 / 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834608A-BC49-4928-97EF-869C89CB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625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146A1B4-1630-434E-A033-75C735EE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816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Uncertain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7B52C8B-D286-4B96-B7CF-A5E98026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625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A897E09-0854-41BA-B023-E4FD4D85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816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Held; distinct from cutoff-only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0959FAA-6887-4A23-9DC4-E17E6396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29300"/>
            <a:ext cx="10763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FE4D5"/>
          </a:solidFill>
          <a:ln xmlns:a="http://schemas.openxmlformats.org/drawingml/2006/main" w="9525">
            <a:solidFill>
              <a:srgbClr val="CFE4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DEB61D3-3E84-477B-B80B-EEEA5683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4F"/>
                </a:solidFill>
              </a:defRPr>
            </a:pPr>
            <a:r>
              <a:rPr sz="1125" b="1">
                <a:solidFill>
                  <a:srgbClr val="2F6B4F"/>
                </a:solidFill>
              </a:rPr>
              <a:t>Every registered experiment has a scored improvement in improvement_priorities.csv (22/22).</a:t>
            </a:r>
          </a:p>
        </p:txBody>
      </p:sp>
    </p:spTree>
    <p:extLst>
      <p:ext uri="{BB962C8B-B14F-4D97-AF65-F5344CB8AC3E}">
        <p14:creationId xmlns:p14="http://schemas.microsoft.com/office/powerpoint/2010/main" val="10692807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5309E2-9794-422F-BED3-016F6376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DECISIONS FOR THE NEXT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B1EF3-1675-405F-84B0-D49E0597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Recommended continuation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2D575-ECBA-49F9-94CF-9F396069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028FD-45F0-4574-874F-BF26A3F4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FDD1F-A755-495D-91D4-81B2C686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9D21A-EDEA-423E-B6E0-3B52281F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E66CC-F080-47AF-83B6-E58B7C2C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38275"/>
            <a:ext cx="895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F690F-DE8C-4B43-B93F-24169E3B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4097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Let running primary policy/training and the 16 Drone Stage-2 MCTS gaps finish.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556DC8-F1FB-449C-A185-BF7DDCAB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9716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EF688-0C58-41CB-BA74-C3AC7E75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9525">
            <a:solidFill>
              <a:srgbClr val="2F6B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00100-9BF7-49ED-9C00-657F4C48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895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FREEZE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CFF7E-49C3-41B4-910A-1486E6B7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152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Adopt the RQ-aligned statistics and three-stable/six-imperfect framing.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7D86C-B145-4E5E-936D-4EE04CBF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1462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88AA8-C5A1-4F3E-B3C3-B6F99809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B8A"/>
          </a:solidFill>
          <a:ln xmlns:a="http://schemas.openxmlformats.org/drawingml/2006/main" w="9525">
            <a:solidFill>
              <a:srgbClr val="426B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D23D4-5F32-4E75-A442-CEB8F471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24175"/>
            <a:ext cx="895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CONFIRM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481B5-7757-4A9F-BBE5-48DEB600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956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Finish Delivery/TPP; separate tuning seeds from eight held-out seeds.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A1FE2-028D-4568-8176-5F6B9B33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575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3D96E-550E-43C8-B762-C03EACAA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6B8A"/>
          </a:solidFill>
          <a:ln xmlns:a="http://schemas.openxmlformats.org/drawingml/2006/main" w="9525">
            <a:solidFill>
              <a:srgbClr val="426B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CB2D0-DBE5-49DA-A5C7-B7F3C3D9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895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SELECT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B85C51-0D40-4F51-AEB5-F2D82F42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385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Use PW cross-domain n=2 as a screen; expand only promising arms.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45BCF-4F61-488A-87E5-9DAE6228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0052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56FFE7-AD95-45EA-B5CD-ADE2AFA2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9C1A2-EC20-4E62-B538-51EE07ED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895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REPAIR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D6393E-C30F-458A-B2AE-B7FB7C12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3815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Deploy lifecycle-safe Rover/FO resource continuation before broad release.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1B3C3C-EACA-4BE9-A536-3DEABC12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43475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DC2E63-6CAB-42DE-AF2D-E71465D8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F50077-89D9-4DD4-9486-7A1D2003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53025"/>
            <a:ext cx="895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REPLICATE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B92CA4-2A88-479A-AFF7-737EAFDC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244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Pilot STOP-ORIG on three seeds before a full strict-paper campaign.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3D4A75-06C5-4EC7-9EBB-D80EFA23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287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4DEC9"/>
          </a:solidFill>
          <a:ln xmlns:a="http://schemas.openxmlformats.org/drawingml/2006/main" w="9525">
            <a:solidFill>
              <a:srgbClr val="F4DE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A7BE6E-48C6-4E9A-A787-4FC07845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17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2D"/>
                </a:solidFill>
              </a:defRPr>
            </a:pPr>
            <a:r>
              <a:rPr sz="1125" b="1">
                <a:solidFill>
                  <a:srgbClr val="D9772D"/>
                </a:solidFill>
              </a:rPr>
              <a:t>Defer SAFE-2, path-batched PW, PUCT/estimator sweeps and Stage-2-final MCTS until the primary RQs close.</a:t>
            </a:r>
          </a:p>
        </p:txBody>
      </p:sp>
    </p:spTree>
    <p:extLst>
      <p:ext uri="{BB962C8B-B14F-4D97-AF65-F5344CB8AC3E}">
        <p14:creationId xmlns:p14="http://schemas.microsoft.com/office/powerpoint/2010/main" val="11944414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6CC4BC9-B21B-4A3B-B02C-2B550A0D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9411C-CEA0-41E4-B712-47D64CB7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Experiment register — completed and 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A34BF-A9BC-489F-B03E-F565D5AE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9F627-D6A4-48CB-93B0-1BBE6BAB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9ABF4-DA30-42B0-956F-AFDE3275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A76E0-9EB2-4664-B85D-603A7B73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525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D11C6-9CC4-4AD6-A5F2-17851705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3716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C8C25-913C-4376-8028-3B2C6578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525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A4075-FC35-4F55-B42C-C1F793D2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3716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4B2D47-D9C3-401F-85CA-F570504D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525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A242F-CB02-4134-A035-78DCDBDE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3716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EEFAC-FE81-42B2-BE90-80FFB9FC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716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18B2D-98B7-41F7-B107-3DFE0598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907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MAIN-VAL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44CDF-638F-4133-8FF4-3633512E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716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596B0-1A8B-455B-820E-95F713CB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907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Completed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F55E4-A591-4721-8721-2D48B20C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716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5D206-3B0E-49DC-A1FB-5C2579A3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907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Policy mainstream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E03BB6-D5C0-4DC4-86E9-FD6E9CA3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B2F34D-8D74-4A52-9429-05B1964F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098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MAIN-TERM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2DA9E7-2070-40B7-8417-F944352B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907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9DCFBC-C991-4C3C-AAAD-B41A6F6A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098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Completed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A41522-750E-432F-8B94-81DB4504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550726-72EA-4562-AD05-068256CB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098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Terminal sensitivity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652EAC-B8EF-46B0-A191-BBF79180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098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BD61F6-8EF3-439A-B82A-37D73E9C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289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PRESERVE-4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A2CDDF-7E28-4BA5-B321-EC56D17D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098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2F001A-632B-4C74-8DC2-2E3E0786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289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Live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1165CA-4F59-4B9C-B8BC-01A193AD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098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55012C-BBF4-42C2-9731-340ACEEF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289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Stable-three confirmation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445044-3683-48B1-9B23-A32FA6B2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289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906727-285B-47A2-B0B1-DED2B508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480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MPRIME-VAL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7B486C-6070-4E7D-8121-B68B1EB7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289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CDC78E-B7FC-46A3-A392-7E467D0F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480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Completed / reclassified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715D7D-21E2-4685-A737-EFA2DEF3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289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AD1B94-31C9-4649-A95F-F9EEAC6C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480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Corrected validation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F3C2BA-95D0-4E2D-870B-60F2912A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480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4E2197-05E2-420B-B335-65E09D5C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4671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ANCHOR-4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C56574-F51E-47DE-8AB4-749B2594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480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7DDE43-20B9-413B-B6BC-2BC3E995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671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Live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3910F6-8C7B-4931-979F-F8E4D86F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480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6BAB13-F1EC-42B0-ABE1-87511E9D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671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Coefficient tuning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AEE771-7DA0-4313-9711-13DD0E4C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849DF3-263B-4519-B572-BA542F12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862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MCTS-WIDTH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C028C6-9CA4-4A6F-B973-B4B441ED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671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CA1D89-AAF2-495E-8D32-2F6D2EB8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862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Live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00D1FF-9660-4F33-A680-5417007F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671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38401B-3948-454C-B2C3-0676BE5E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862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Counters narrow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F115DE-C27F-493F-B9B2-40C436C5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862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1A2CAB-54A1-4064-8BFD-4BEDAEAA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053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MCTS-PW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2C31F0-6D57-4F2C-BF89-B7165ACA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862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D26273-27D8-49CC-91FC-C45F9F20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053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Completed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331E02-A3AA-4718-87F4-1674208F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862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0BE276-8C4E-4448-956B-B7ED46C2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053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Efficiency trade-off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0DA01F-4F38-485A-BC5D-C8654349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053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147A0FE-BF4B-4084-A2B7-01EC57E5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244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MCTS-PW-SAFE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EE4E6C-906B-44B1-91B6-EC20C4C7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053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B43FD5-0370-4B5A-BD6B-04C4BDA8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244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Completed extension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86ED9A3-06E0-4004-97D4-B36DE0B6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053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FC58A5-AA26-4238-B68C-F4C799E0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244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Kmin=3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4FF19D9-95F0-406C-B000-921C7364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244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64AD32A-8862-449E-9A45-30A5AEBA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435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MCTS-SAFE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D0045EA-8D24-4E49-BD1A-7F88CF86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244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ABFD8E2-8F20-4140-90EE-FCCEFAAD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1435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Completed diagnostic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341592F-4322-4194-8CCC-D3B723D7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244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8D8EF05-B841-4945-8E79-D0C7AE30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435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2/4 repairs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951B697-6195-4320-9D3B-39AF8EC9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435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1268F06-DE3F-47BF-AE5B-2AA4D709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626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MCTS-HORIZON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2C3932B-5653-4A21-BD3C-37FEA977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435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5779E0F-38E4-4552-8039-78C79C88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5626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Live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1BACEF-742F-4121-9477-75807228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435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717DB6B-47DE-48D1-9AFD-344C452E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626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Binding 750-action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DCB1C2D-F65B-4416-A9D7-FFE4D78E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626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7541162-DACA-4122-9948-5F14F3E8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817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MCTS-SAFE-CONTEXT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C761140-FA73-465B-8D1D-CE7F7F7B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9626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1DBFE5-E309-4D98-88D0-DCF19D9D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9817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Live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40C881D-1DD3-4B93-9C7C-34ABF59F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9626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FBE6ADF-E7BC-4689-94AE-AD3F6F31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9817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Contextual nodes</a:t>
            </a:r>
          </a:p>
        </p:txBody>
      </p:sp>
    </p:spTree>
    <p:extLst>
      <p:ext uri="{BB962C8B-B14F-4D97-AF65-F5344CB8AC3E}">
        <p14:creationId xmlns:p14="http://schemas.microsoft.com/office/powerpoint/2010/main" val="1278717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D014CF6-1EF1-46C2-BC2C-1A3C262F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80DD9-A3AD-414E-BC56-343934C9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Experiment register — held and secondary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B7DE9-0A0B-4EEF-8706-7B339515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42420-C335-4DCD-9339-D68BA828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963DE-B202-49B8-B48A-EEBC2897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240E8-F13A-4732-B159-36453C06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525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58DB4-C2AB-47F2-BAC7-3E809AD6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3716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A9287-A41F-4C44-B974-0578B160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525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6CA5F-EE2C-4B17-A3F2-615DEB01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3716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9363B-518F-4F02-97F8-A830BE69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525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2C"/>
          </a:solidFill>
          <a:ln xmlns:a="http://schemas.openxmlformats.org/drawingml/2006/main" w="9525">
            <a:solidFill>
              <a:srgbClr val="1D25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FC5E8-6AC4-48D0-8B45-FB23FE02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3716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B7FEA-D17C-43C8-96B8-D7CDC998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716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7B2E0-066E-410C-A8E4-02A78221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907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MAIN-VAL-S2-MCTS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DA4C0-0A16-4C19-9D58-91C14B34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716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592F2-22AD-412E-91C5-57633B82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907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Live/pending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59930-1B64-4596-9077-5CB8E438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716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B885D0-8901-455D-99F3-A7F568CE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907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Primary RQ2/RQ4 gap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3B6781-F0AE-4D3C-82CC-3E2C3074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564B1-5EAB-4408-9F70-482CA7DA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098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MCTS-PW-CROSS-DOMAIN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01728-3C9A-4A4D-A5E9-793ABE18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907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27FF4-A862-4852-94A9-208D2B9E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098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Live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BC31E2-0999-43F8-BE98-9397A1DB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BAFFA1-5655-403A-9E35-A9AFC2CD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098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Two-seed screen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4FEFCD-21DD-4D60-BF40-E862712A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098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79F817-C14C-4CCE-BDD4-EDA0DEA4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289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MCTS-RESOURCE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D5DEBE-3551-4208-9A2A-626A8E1B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098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19E93A-7AB5-4A89-8AD5-EEF93CE9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289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Held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14F066-5935-4086-8ABF-58D27E03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098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C4E765-AAB5-41A9-9E8B-3B9CE472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289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Lifecycle/resource sensitivity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96D2C0-EDDC-4918-8A7A-DDAFA911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289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BEB321-CFF0-4077-B105-C8CA9EA4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480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MCTS-LEGACY-ROVER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62615A-F548-4781-AA97-589E95C9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289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D57151-5C58-4C11-B50D-FFC2F509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480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Resource-pending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1D00F4-5739-425C-AAF9-13BF3B2A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289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0FB988-1DF7-43CA-AF72-94D65DB6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480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Endpoint release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59A380-4A66-4A7E-BC85-E8E271D6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480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33CDA8-7AFC-4AB7-9880-A21E07E9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4671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LONG-DRONE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08417A-1027-4A54-9F7C-EE5C245F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480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1AA750-1CE1-4FD7-A8FE-8D5891D2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671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Live/static follow-up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5174F0-B19E-44C1-B4DE-08E9931B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480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4AC37E-B42A-420E-A684-DBF324A7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671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Training duration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749642-C0AB-4EE4-BD3C-0FF322B9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13D0FA-3F47-452B-A85A-3ACC1E2F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862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STOP-ORIG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62E69D-5819-4B7F-B1B9-ED62E252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671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D8D7ED-74BA-4A46-BE44-3A4888B6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862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Held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550382-64C8-4600-A3F9-6116D28E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671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DBA2BF-B32A-4330-8F04-6F58E771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862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Strict stopping fidelity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A0B768-4BD4-414F-86AD-ACC294AB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862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5B5328-E9A3-494F-85F4-9A5980CC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053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MCTS-SAFE2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8538E1-4D46-4B65-ABDC-035D7FAA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862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23F43F-16BC-412C-B438-70671763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053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Held design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5D3781-9879-4A62-9988-BCD6DB99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862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826DD3-2E92-4E1C-A1E7-E600B560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053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State × horizon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79BE6A-1518-46FD-8504-949D9F12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053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72E8C0-7342-4DC5-BA16-E90AFC60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244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MCTS-PW-PATHBATCH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56AB07-E0ED-46EA-ABDE-8C67C440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053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C8BD27-1DA5-4284-98CE-16257AF2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244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Held design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ADB4F15-0E9D-4FDE-AD89-2B082D22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053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0D991EC-CAF7-4DA1-8BC2-2C28D310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244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Multi-node widening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AF266DE-D919-49DB-99CD-F9DB9F0A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244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B1B44BD-E6D5-4272-B570-8F3C2F6C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435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PUCT-EST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FB72FA9-0884-4A09-AFC4-BE528F2D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244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998835A-A78D-46E1-8B8F-52ECDDB3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1435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Held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F62A2EF-3530-42C1-A2A2-0229ACEB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244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B96FE8E-BA0A-4F1C-898B-9AE5EC1B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435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Search coefficients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EB3118-A265-4E08-8AD7-725F06D1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435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5CF1147-430D-404A-B3C2-C53B2D71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626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ENHSP-LEAF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45F8D9E-12F9-4508-A1F7-CB0B807A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435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CE8D589-8B41-44C0-8681-3073DE3B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5626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Completed exploratory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CA66CD4-D65D-4EB6-8240-F9DAB8F9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435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EC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F4859DE-C059-485C-BA61-8E8F08A6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626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Leaf estimator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F56AB8D-2C4A-4171-96FF-24BCBB7F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626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0678AEB-457B-403A-9B8E-D91E7019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817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BG-HIST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EE74E1A-1CB7-4437-ACCA-3D32EDB4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9626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26005EC-4742-40B4-8ED0-C6F6E2C0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9817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Completed historical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60409D3-3A60-47B3-9606-78549BB9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9626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7E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C1B01C1-DEF1-4D04-A908-CCFF1EDC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9817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Provenance only</a:t>
            </a:r>
          </a:p>
        </p:txBody>
      </p:sp>
    </p:spTree>
    <p:extLst>
      <p:ext uri="{BB962C8B-B14F-4D97-AF65-F5344CB8AC3E}">
        <p14:creationId xmlns:p14="http://schemas.microsoft.com/office/powerpoint/2010/main" val="17126597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D063C7-779E-432C-A18C-36EE6C9E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4F"/>
                </a:solidFill>
              </a:defRPr>
            </a:pPr>
            <a:r>
              <a:rPr sz="900" b="1">
                <a:solidFill>
                  <a:srgbClr val="2F6B4F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9BC8F-EAA6-4A3C-BAC3-90138903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Statistical 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AF31A-DF41-45F5-9329-F649DF33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715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7E2"/>
          </a:solidFill>
          <a:ln xmlns:a="http://schemas.openxmlformats.org/drawingml/2006/main" w="0">
            <a:solidFill>
              <a:srgbClr val="E8E7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7E92E-B48A-4555-BB72-AE4DDCD8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645F"/>
                </a:solidFill>
              </a:defRPr>
            </a:pPr>
            <a:r>
              <a:rPr sz="750" b="1">
                <a:solidFill>
                  <a:srgbClr val="64645F"/>
                </a:solidFill>
              </a:rPr>
              <a:t>NUMERIC ASNETS · ADVISOR STATUS · 30 AUG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A57B6-3761-44CE-AAF8-43DC910B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645F"/>
                </a:solidFill>
              </a:defRPr>
            </a:pPr>
            <a:r>
              <a:rPr sz="825" b="1">
                <a:solidFill>
                  <a:srgbClr val="64645F"/>
                </a:solidFill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41A12-80B8-41EE-899D-CEC874A8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43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1BB52-AECA-46B1-9107-084CAF1E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66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Independent unit: network seed, not individual planning instance.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6E34A-6337-4FC9-AB9F-E2419D1E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D9209-0E1E-4641-A2DA-7F4DB16A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Effect: paired per-seed coverage difference; RQ3 uses paired difference-in-differences.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9C694-037A-4AA0-B399-1A96F6B9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58137-646C-461F-B130-C267F5DE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95% confidence interval: t interval over ten seed-level effects.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C867B-151E-4EB0-91AC-DF3088E6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DD902-D8DC-4A04-89CC-AAC6C14A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p-value: exact sign-flip enumeration over all 2¹⁰ sign assignments.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B5696-38DE-4AC9-8346-B15B51DA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D5AC2-1D29-42E7-8175-B21D99B5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Multiplicity: Holm correction over five domains within each RQ.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743B7A-7819-4765-9E41-EF7E185B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E5ABC6-7433-48DE-94B0-22256FBB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14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A non-significant result means insufficient evidence—not proof of no effect.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8D061-18B9-493B-A251-A6CF8935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2D"/>
          </a:solidFill>
          <a:ln xmlns:a="http://schemas.openxmlformats.org/drawingml/2006/main" w="9525">
            <a:solidFill>
              <a:srgbClr val="D977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766AD6-2B38-4DA1-802A-1AF2155A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44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Paper baselines lack seed-level variance; compare descriptively, never with a fabricated p-value.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52F4BF-7CBF-4D5F-9349-9537FF48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9906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DE8F0"/>
          </a:solidFill>
          <a:ln xmlns:a="http://schemas.openxmlformats.org/drawingml/2006/main" w="9525">
            <a:solidFill>
              <a:srgbClr val="DD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D77C9E-714F-4B07-8C90-856E9F40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8959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6B8A"/>
                </a:solidFill>
              </a:defRPr>
            </a:pPr>
            <a:r>
              <a:rPr sz="1200" b="1">
                <a:solidFill>
                  <a:srgbClr val="426B8A"/>
                </a:solidFill>
              </a:rPr>
              <a:t>All corrected estimands and both raw/Holm p-values are in rq_results.csv.</a:t>
            </a:r>
          </a:p>
        </p:txBody>
      </p:sp>
    </p:spTree>
    <p:extLst>
      <p:ext uri="{BB962C8B-B14F-4D97-AF65-F5344CB8AC3E}">
        <p14:creationId xmlns:p14="http://schemas.microsoft.com/office/powerpoint/2010/main" val="1450684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2026-08-30T12:42:31.4250000Z</dcterms:created>
  <dcterms:modified xsi:type="dcterms:W3CDTF">2026-08-30T12:42:31.4250000Z</dcterms:modified>
</coreProperties>
</file>